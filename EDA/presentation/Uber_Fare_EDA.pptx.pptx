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72B"/>
        </a:solidFill>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1E2340"/>
          </a:solidFill>
          <a:ln/>
        </p:spPr>
      </p:sp>
      <p:sp>
        <p:nvSpPr>
          <p:cNvPr id="3" name="Shape 1"/>
          <p:cNvSpPr/>
          <p:nvPr/>
        </p:nvSpPr>
        <p:spPr>
          <a:xfrm>
            <a:off x="-1645920" y="4754880"/>
            <a:ext cx="3840480" cy="3840480"/>
          </a:xfrm>
          <a:prstGeom prst="ellipse">
            <a:avLst/>
          </a:prstGeom>
          <a:solidFill>
            <a:srgbClr val="1E2340"/>
          </a:solidFill>
          <a:ln/>
        </p:spPr>
      </p:sp>
      <p:sp>
        <p:nvSpPr>
          <p:cNvPr id="4" name="Text 2"/>
          <p:cNvSpPr/>
          <p:nvPr/>
        </p:nvSpPr>
        <p:spPr>
          <a:xfrm>
            <a:off x="822960" y="1874520"/>
            <a:ext cx="7315200" cy="365760"/>
          </a:xfrm>
          <a:prstGeom prst="rect">
            <a:avLst/>
          </a:prstGeom>
          <a:noFill/>
          <a:ln/>
        </p:spPr>
        <p:txBody>
          <a:bodyPr wrap="square" rtlCol="0" anchor="ctr"/>
          <a:lstStyle/>
          <a:p>
            <a:pPr indent="0" marL="0">
              <a:buNone/>
            </a:pPr>
            <a:r>
              <a:rPr lang="en-US" sz="1300" b="1" spc="300" kern="0" dirty="0">
                <a:solidFill>
                  <a:srgbClr val="FFC300"/>
                </a:solidFill>
                <a:latin typeface="Calibri" pitchFamily="34" charset="0"/>
                <a:ea typeface="Calibri" pitchFamily="34" charset="-122"/>
                <a:cs typeface="Calibri" pitchFamily="34" charset="-120"/>
              </a:rPr>
              <a:t>ML INTERNSHIP PROGRAM  ·  TASK 1</a:t>
            </a:r>
            <a:endParaRPr lang="en-US" sz="1300" dirty="0"/>
          </a:p>
        </p:txBody>
      </p:sp>
      <p:sp>
        <p:nvSpPr>
          <p:cNvPr id="5" name="Text 3"/>
          <p:cNvSpPr/>
          <p:nvPr/>
        </p:nvSpPr>
        <p:spPr>
          <a:xfrm>
            <a:off x="777240" y="2286000"/>
            <a:ext cx="10058400" cy="1188720"/>
          </a:xfrm>
          <a:prstGeom prst="rect">
            <a:avLst/>
          </a:prstGeom>
          <a:noFill/>
          <a:ln/>
        </p:spPr>
        <p:txBody>
          <a:bodyPr wrap="square"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Uber Fare Analysis</a:t>
            </a:r>
            <a:endParaRPr lang="en-US" sz="4800" dirty="0"/>
          </a:p>
        </p:txBody>
      </p:sp>
      <p:sp>
        <p:nvSpPr>
          <p:cNvPr id="6" name="Text 4"/>
          <p:cNvSpPr/>
          <p:nvPr/>
        </p:nvSpPr>
        <p:spPr>
          <a:xfrm>
            <a:off x="822960" y="3337560"/>
            <a:ext cx="9144000" cy="548640"/>
          </a:xfrm>
          <a:prstGeom prst="rect">
            <a:avLst/>
          </a:prstGeom>
          <a:noFill/>
          <a:ln/>
        </p:spPr>
        <p:txBody>
          <a:bodyPr wrap="square" rtlCol="0" anchor="ctr"/>
          <a:lstStyle/>
          <a:p>
            <a:pPr indent="0" marL="0">
              <a:buNone/>
            </a:pPr>
            <a:r>
              <a:rPr lang="en-US" sz="1800" i="1" dirty="0">
                <a:solidFill>
                  <a:srgbClr val="C7CBE0"/>
                </a:solidFill>
                <a:latin typeface="Calibri" pitchFamily="34" charset="0"/>
                <a:ea typeface="Calibri" pitchFamily="34" charset="-122"/>
                <a:cs typeface="Calibri" pitchFamily="34" charset="-120"/>
              </a:rPr>
              <a:t>What actually drives the price of a New York City ride?</a:t>
            </a:r>
            <a:endParaRPr lang="en-US" sz="1800" dirty="0"/>
          </a:p>
        </p:txBody>
      </p:sp>
      <p:sp>
        <p:nvSpPr>
          <p:cNvPr id="7" name="Shape 5"/>
          <p:cNvSpPr/>
          <p:nvPr/>
        </p:nvSpPr>
        <p:spPr>
          <a:xfrm>
            <a:off x="822960" y="4160520"/>
            <a:ext cx="1005840" cy="0"/>
          </a:xfrm>
          <a:prstGeom prst="line">
            <a:avLst/>
          </a:prstGeom>
          <a:noFill/>
          <a:ln w="38100">
            <a:solidFill>
              <a:srgbClr val="FFC300"/>
            </a:solidFill>
            <a:prstDash val="solid"/>
          </a:ln>
        </p:spPr>
      </p:sp>
      <p:sp>
        <p:nvSpPr>
          <p:cNvPr id="8" name="Text 6"/>
          <p:cNvSpPr/>
          <p:nvPr/>
        </p:nvSpPr>
        <p:spPr>
          <a:xfrm>
            <a:off x="822960" y="4389120"/>
            <a:ext cx="8686800" cy="822960"/>
          </a:xfrm>
          <a:prstGeom prst="rect">
            <a:avLst/>
          </a:prstGeom>
          <a:noFill/>
          <a:ln/>
        </p:spPr>
        <p:txBody>
          <a:bodyPr wrap="square" rtlCol="0" anchor="ctr"/>
          <a:lstStyle/>
          <a:p>
            <a:pPr indent="0" marL="0">
              <a:lnSpc>
                <a:spcPts val="1900"/>
              </a:lnSpc>
              <a:buNone/>
            </a:pPr>
            <a:r>
              <a:rPr lang="en-US" sz="1350" dirty="0">
                <a:solidFill>
                  <a:srgbClr val="AEB3CC"/>
                </a:solidFill>
                <a:latin typeface="Calibri" pitchFamily="34" charset="0"/>
                <a:ea typeface="Calibri" pitchFamily="34" charset="-122"/>
                <a:cs typeface="Calibri" pitchFamily="34" charset="-120"/>
              </a:rPr>
              <a:t>An exploratory data analysis of 58,365 NYC Uber trips — choosing the right</a:t>
            </a:r>
            <a:endParaRPr lang="en-US" sz="1350" dirty="0"/>
          </a:p>
          <a:p>
            <a:pPr indent="0" marL="0">
              <a:lnSpc>
                <a:spcPts val="1900"/>
              </a:lnSpc>
              <a:buNone/>
            </a:pPr>
            <a:r>
              <a:rPr lang="en-US" sz="1350" dirty="0">
                <a:solidFill>
                  <a:srgbClr val="AEB3CC"/>
                </a:solidFill>
                <a:latin typeface="Calibri" pitchFamily="34" charset="0"/>
                <a:ea typeface="Calibri" pitchFamily="34" charset="-122"/>
                <a:cs typeface="Calibri" pitchFamily="34" charset="-120"/>
              </a:rPr>
              <a:t>chart for each business question, and the story the data tells.</a:t>
            </a:r>
            <a:endParaRPr lang="en-US" sz="1350" dirty="0"/>
          </a:p>
        </p:txBody>
      </p:sp>
      <p:sp>
        <p:nvSpPr>
          <p:cNvPr id="9" name="Text 7"/>
          <p:cNvSpPr/>
          <p:nvPr/>
        </p:nvSpPr>
        <p:spPr>
          <a:xfrm>
            <a:off x="822960" y="6263640"/>
            <a:ext cx="7315200" cy="320040"/>
          </a:xfrm>
          <a:prstGeom prst="rect">
            <a:avLst/>
          </a:prstGeom>
          <a:noFill/>
          <a:ln/>
        </p:spPr>
        <p:txBody>
          <a:bodyPr wrap="square" rtlCol="0" anchor="ctr"/>
          <a:lstStyle/>
          <a:p>
            <a:pPr indent="0" marL="0">
              <a:buNone/>
            </a:pPr>
            <a:r>
              <a:rPr lang="en-US" sz="1100" dirty="0">
                <a:solidFill>
                  <a:srgbClr val="8288A6"/>
                </a:solidFill>
                <a:latin typeface="Calibri" pitchFamily="34" charset="0"/>
                <a:ea typeface="Calibri" pitchFamily="34" charset="-122"/>
                <a:cs typeface="Calibri" pitchFamily="34" charset="-120"/>
              </a:rPr>
              <a:t>Exploratory Data Analysis  •  Fare Prediction Project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rtlCol="0" anchor="ctr"/>
          <a:lstStyle/>
          <a:p>
            <a:pPr indent="0" marL="0">
              <a:buNone/>
            </a:pPr>
            <a:r>
              <a:rPr lang="en-US" sz="1300" b="1" spc="200" kern="0" dirty="0">
                <a:solidFill>
                  <a:srgbClr val="6B7086"/>
                </a:solidFill>
                <a:latin typeface="Calibri" pitchFamily="34" charset="0"/>
                <a:ea typeface="Calibri" pitchFamily="34" charset="-122"/>
                <a:cs typeface="Calibri" pitchFamily="34" charset="-120"/>
              </a:rPr>
              <a:t>THE DATASET</a:t>
            </a:r>
            <a:endParaRPr lang="en-US" sz="1300" dirty="0"/>
          </a:p>
        </p:txBody>
      </p:sp>
      <p:sp>
        <p:nvSpPr>
          <p:cNvPr id="3" name="Text 1"/>
          <p:cNvSpPr/>
          <p:nvPr/>
        </p:nvSpPr>
        <p:spPr>
          <a:xfrm>
            <a:off x="548640" y="777240"/>
            <a:ext cx="10789920" cy="640080"/>
          </a:xfrm>
          <a:prstGeom prst="rect">
            <a:avLst/>
          </a:prstGeom>
          <a:noFill/>
          <a:ln/>
        </p:spPr>
        <p:txBody>
          <a:bodyPr wrap="square" rtlCol="0" anchor="ctr"/>
          <a:lstStyle/>
          <a:p>
            <a:pPr indent="0" marL="0">
              <a:buNone/>
            </a:pPr>
            <a:r>
              <a:rPr lang="en-US" sz="2600" b="1" dirty="0">
                <a:solidFill>
                  <a:srgbClr val="1B1F2A"/>
                </a:solidFill>
                <a:latin typeface="Cambria" pitchFamily="34" charset="0"/>
                <a:ea typeface="Cambria" pitchFamily="34" charset="-122"/>
                <a:cs typeface="Cambria" pitchFamily="34" charset="-120"/>
              </a:rPr>
              <a:t>58,365 rides. One question: what sets the fare?</a:t>
            </a:r>
            <a:endParaRPr lang="en-US" sz="2600" dirty="0"/>
          </a:p>
        </p:txBody>
      </p:sp>
      <p:sp>
        <p:nvSpPr>
          <p:cNvPr id="4" name="Text 2"/>
          <p:cNvSpPr/>
          <p:nvPr/>
        </p:nvSpPr>
        <p:spPr>
          <a:xfrm>
            <a:off x="548640" y="1417320"/>
            <a:ext cx="10789920" cy="777240"/>
          </a:xfrm>
          <a:prstGeom prst="rect">
            <a:avLst/>
          </a:prstGeom>
          <a:noFill/>
          <a:ln/>
        </p:spPr>
        <p:txBody>
          <a:bodyPr wrap="square" rtlCol="0" anchor="ctr"/>
          <a:lstStyle/>
          <a:p>
            <a:pPr indent="0" marL="0">
              <a:lnSpc>
                <a:spcPts val="1800"/>
              </a:lnSpc>
              <a:buNone/>
            </a:pPr>
            <a:r>
              <a:rPr lang="en-US" sz="1350" dirty="0">
                <a:solidFill>
                  <a:srgbClr val="6B7086"/>
                </a:solidFill>
                <a:latin typeface="Calibri" pitchFamily="34" charset="0"/>
                <a:ea typeface="Calibri" pitchFamily="34" charset="-122"/>
                <a:cs typeface="Calibri" pitchFamily="34" charset="-120"/>
              </a:rPr>
              <a:t>Every row is a single NYC Uber trip, with the fare paid alongside pickup time, location, distance,</a:t>
            </a:r>
            <a:endParaRPr lang="en-US" sz="1350" dirty="0"/>
          </a:p>
          <a:p>
            <a:pPr indent="0" marL="0">
              <a:lnSpc>
                <a:spcPts val="1800"/>
              </a:lnSpc>
              <a:buNone/>
            </a:pPr>
            <a:r>
              <a:rPr lang="en-US" sz="1350" dirty="0">
                <a:solidFill>
                  <a:srgbClr val="6B7086"/>
                </a:solidFill>
                <a:latin typeface="Calibri" pitchFamily="34" charset="0"/>
                <a:ea typeface="Calibri" pitchFamily="34" charset="-122"/>
                <a:cs typeface="Calibri" pitchFamily="34" charset="-120"/>
              </a:rPr>
              <a:t>passenger count, weather, traffic and vehicle condition. Before modeling in Task 2, each variable</a:t>
            </a:r>
            <a:endParaRPr lang="en-US" sz="1350" dirty="0"/>
          </a:p>
          <a:p>
            <a:pPr indent="0" marL="0">
              <a:lnSpc>
                <a:spcPts val="1800"/>
              </a:lnSpc>
              <a:buNone/>
            </a:pPr>
            <a:r>
              <a:rPr lang="en-US" sz="1350" dirty="0">
                <a:solidFill>
                  <a:srgbClr val="6B7086"/>
                </a:solidFill>
                <a:latin typeface="Calibri" pitchFamily="34" charset="0"/>
                <a:ea typeface="Calibri" pitchFamily="34" charset="-122"/>
                <a:cs typeface="Calibri" pitchFamily="34" charset="-120"/>
              </a:rPr>
              <a:t>was checked against fare using the chart best suited to its data type.</a:t>
            </a:r>
            <a:endParaRPr lang="en-US" sz="1350" dirty="0"/>
          </a:p>
        </p:txBody>
      </p:sp>
      <p:sp>
        <p:nvSpPr>
          <p:cNvPr id="5" name="Shape 3"/>
          <p:cNvSpPr/>
          <p:nvPr/>
        </p:nvSpPr>
        <p:spPr>
          <a:xfrm>
            <a:off x="548640" y="2514600"/>
            <a:ext cx="2542032" cy="1783080"/>
          </a:xfrm>
          <a:prstGeom prst="roundRect">
            <a:avLst>
              <a:gd name="adj" fmla="val 4103"/>
            </a:avLst>
          </a:prstGeom>
          <a:solidFill>
            <a:srgbClr val="F5F6FA"/>
          </a:solidFill>
          <a:ln w="12700">
            <a:solidFill>
              <a:srgbClr val="E4E6F0"/>
            </a:solidFill>
            <a:prstDash val="solid"/>
          </a:ln>
        </p:spPr>
      </p:sp>
      <p:sp>
        <p:nvSpPr>
          <p:cNvPr id="6" name="Text 4"/>
          <p:cNvSpPr/>
          <p:nvPr/>
        </p:nvSpPr>
        <p:spPr>
          <a:xfrm>
            <a:off x="777240" y="2697480"/>
            <a:ext cx="2130552" cy="594360"/>
          </a:xfrm>
          <a:prstGeom prst="rect">
            <a:avLst/>
          </a:prstGeom>
          <a:noFill/>
          <a:ln/>
        </p:spPr>
        <p:txBody>
          <a:bodyPr wrap="square" lIns="0" tIns="0" rIns="0" bIns="0" rtlCol="0" anchor="ctr"/>
          <a:lstStyle/>
          <a:p>
            <a:pPr indent="0" marL="0">
              <a:buNone/>
            </a:pPr>
            <a:r>
              <a:rPr lang="en-US" sz="3000" b="1" dirty="0">
                <a:solidFill>
                  <a:srgbClr val="14172B"/>
                </a:solidFill>
                <a:latin typeface="Cambria" pitchFamily="34" charset="0"/>
                <a:ea typeface="Cambria" pitchFamily="34" charset="-122"/>
                <a:cs typeface="Cambria" pitchFamily="34" charset="-120"/>
              </a:rPr>
              <a:t>58,365</a:t>
            </a:r>
            <a:endParaRPr lang="en-US" sz="3000" dirty="0"/>
          </a:p>
        </p:txBody>
      </p:sp>
      <p:sp>
        <p:nvSpPr>
          <p:cNvPr id="7" name="Text 5"/>
          <p:cNvSpPr/>
          <p:nvPr/>
        </p:nvSpPr>
        <p:spPr>
          <a:xfrm>
            <a:off x="777240" y="3337560"/>
            <a:ext cx="2130552" cy="320040"/>
          </a:xfrm>
          <a:prstGeom prst="rect">
            <a:avLst/>
          </a:prstGeom>
          <a:noFill/>
          <a:ln/>
        </p:spPr>
        <p:txBody>
          <a:bodyPr wrap="square" lIns="0" tIns="0" rIns="0" bIns="0" rtlCol="0" anchor="ctr"/>
          <a:lstStyle/>
          <a:p>
            <a:pPr indent="0" marL="0">
              <a:buNone/>
            </a:pPr>
            <a:r>
              <a:rPr lang="en-US" sz="1250" b="1" dirty="0">
                <a:solidFill>
                  <a:srgbClr val="1B1F2A"/>
                </a:solidFill>
                <a:latin typeface="Calibri" pitchFamily="34" charset="0"/>
                <a:ea typeface="Calibri" pitchFamily="34" charset="-122"/>
                <a:cs typeface="Calibri" pitchFamily="34" charset="-120"/>
              </a:rPr>
              <a:t>raw trip records</a:t>
            </a:r>
            <a:endParaRPr lang="en-US" sz="1250" dirty="0"/>
          </a:p>
        </p:txBody>
      </p:sp>
      <p:sp>
        <p:nvSpPr>
          <p:cNvPr id="8" name="Text 6"/>
          <p:cNvSpPr/>
          <p:nvPr/>
        </p:nvSpPr>
        <p:spPr>
          <a:xfrm>
            <a:off x="777240" y="3657600"/>
            <a:ext cx="2130552" cy="548640"/>
          </a:xfrm>
          <a:prstGeom prst="rect">
            <a:avLst/>
          </a:prstGeom>
          <a:noFill/>
          <a:ln/>
        </p:spPr>
        <p:txBody>
          <a:bodyPr wrap="square" lIns="0" tIns="0" rIns="0" bIns="0" rtlCol="0" anchor="ctr"/>
          <a:lstStyle/>
          <a:p>
            <a:pPr indent="0" marL="0">
              <a:lnSpc>
                <a:spcPts val="1300"/>
              </a:lnSpc>
              <a:buNone/>
            </a:pPr>
            <a:r>
              <a:rPr lang="en-US" sz="1050" dirty="0">
                <a:solidFill>
                  <a:srgbClr val="6B7086"/>
                </a:solidFill>
                <a:latin typeface="Calibri" pitchFamily="34" charset="0"/>
                <a:ea typeface="Calibri" pitchFamily="34" charset="-122"/>
                <a:cs typeface="Calibri" pitchFamily="34" charset="-120"/>
              </a:rPr>
              <a:t>collected across 2009–2015</a:t>
            </a:r>
            <a:endParaRPr lang="en-US" sz="1050" dirty="0"/>
          </a:p>
        </p:txBody>
      </p:sp>
      <p:sp>
        <p:nvSpPr>
          <p:cNvPr id="9" name="Shape 7"/>
          <p:cNvSpPr/>
          <p:nvPr/>
        </p:nvSpPr>
        <p:spPr>
          <a:xfrm>
            <a:off x="3346704" y="2514600"/>
            <a:ext cx="2542032" cy="1783080"/>
          </a:xfrm>
          <a:prstGeom prst="roundRect">
            <a:avLst>
              <a:gd name="adj" fmla="val 4103"/>
            </a:avLst>
          </a:prstGeom>
          <a:solidFill>
            <a:srgbClr val="F5F6FA"/>
          </a:solidFill>
          <a:ln w="12700">
            <a:solidFill>
              <a:srgbClr val="E4E6F0"/>
            </a:solidFill>
            <a:prstDash val="solid"/>
          </a:ln>
        </p:spPr>
      </p:sp>
      <p:sp>
        <p:nvSpPr>
          <p:cNvPr id="10" name="Text 8"/>
          <p:cNvSpPr/>
          <p:nvPr/>
        </p:nvSpPr>
        <p:spPr>
          <a:xfrm>
            <a:off x="3575304" y="2697480"/>
            <a:ext cx="2130552" cy="594360"/>
          </a:xfrm>
          <a:prstGeom prst="rect">
            <a:avLst/>
          </a:prstGeom>
          <a:noFill/>
          <a:ln/>
        </p:spPr>
        <p:txBody>
          <a:bodyPr wrap="square" lIns="0" tIns="0" rIns="0" bIns="0" rtlCol="0" anchor="ctr"/>
          <a:lstStyle/>
          <a:p>
            <a:pPr indent="0" marL="0">
              <a:buNone/>
            </a:pPr>
            <a:r>
              <a:rPr lang="en-US" sz="3000" b="1" dirty="0">
                <a:solidFill>
                  <a:srgbClr val="14172B"/>
                </a:solidFill>
                <a:latin typeface="Cambria" pitchFamily="34" charset="0"/>
                <a:ea typeface="Cambria" pitchFamily="34" charset="-122"/>
                <a:cs typeface="Cambria" pitchFamily="34" charset="-120"/>
              </a:rPr>
              <a:t>56,667</a:t>
            </a:r>
            <a:endParaRPr lang="en-US" sz="3000" dirty="0"/>
          </a:p>
        </p:txBody>
      </p:sp>
      <p:sp>
        <p:nvSpPr>
          <p:cNvPr id="11" name="Text 9"/>
          <p:cNvSpPr/>
          <p:nvPr/>
        </p:nvSpPr>
        <p:spPr>
          <a:xfrm>
            <a:off x="3575304" y="3337560"/>
            <a:ext cx="2130552" cy="320040"/>
          </a:xfrm>
          <a:prstGeom prst="rect">
            <a:avLst/>
          </a:prstGeom>
          <a:noFill/>
          <a:ln/>
        </p:spPr>
        <p:txBody>
          <a:bodyPr wrap="square" lIns="0" tIns="0" rIns="0" bIns="0" rtlCol="0" anchor="ctr"/>
          <a:lstStyle/>
          <a:p>
            <a:pPr indent="0" marL="0">
              <a:buNone/>
            </a:pPr>
            <a:r>
              <a:rPr lang="en-US" sz="1250" b="1" dirty="0">
                <a:solidFill>
                  <a:srgbClr val="1B1F2A"/>
                </a:solidFill>
                <a:latin typeface="Calibri" pitchFamily="34" charset="0"/>
                <a:ea typeface="Calibri" pitchFamily="34" charset="-122"/>
                <a:cs typeface="Calibri" pitchFamily="34" charset="-120"/>
              </a:rPr>
              <a:t>rides after cleaning</a:t>
            </a:r>
            <a:endParaRPr lang="en-US" sz="1250" dirty="0"/>
          </a:p>
        </p:txBody>
      </p:sp>
      <p:sp>
        <p:nvSpPr>
          <p:cNvPr id="12" name="Text 10"/>
          <p:cNvSpPr/>
          <p:nvPr/>
        </p:nvSpPr>
        <p:spPr>
          <a:xfrm>
            <a:off x="3575304" y="3657600"/>
            <a:ext cx="2130552" cy="548640"/>
          </a:xfrm>
          <a:prstGeom prst="rect">
            <a:avLst/>
          </a:prstGeom>
          <a:noFill/>
          <a:ln/>
        </p:spPr>
        <p:txBody>
          <a:bodyPr wrap="square" lIns="0" tIns="0" rIns="0" bIns="0" rtlCol="0" anchor="ctr"/>
          <a:lstStyle/>
          <a:p>
            <a:pPr indent="0" marL="0">
              <a:lnSpc>
                <a:spcPts val="1300"/>
              </a:lnSpc>
              <a:buNone/>
            </a:pPr>
            <a:r>
              <a:rPr lang="en-US" sz="1050" dirty="0">
                <a:solidFill>
                  <a:srgbClr val="6B7086"/>
                </a:solidFill>
                <a:latin typeface="Calibri" pitchFamily="34" charset="0"/>
                <a:ea typeface="Calibri" pitchFamily="34" charset="-122"/>
                <a:cs typeface="Calibri" pitchFamily="34" charset="-120"/>
              </a:rPr>
              <a:t>invalid fares &amp; distances removed</a:t>
            </a:r>
            <a:endParaRPr lang="en-US" sz="1050" dirty="0"/>
          </a:p>
        </p:txBody>
      </p:sp>
      <p:sp>
        <p:nvSpPr>
          <p:cNvPr id="13" name="Shape 11"/>
          <p:cNvSpPr/>
          <p:nvPr/>
        </p:nvSpPr>
        <p:spPr>
          <a:xfrm>
            <a:off x="6144768" y="2514600"/>
            <a:ext cx="2542032" cy="1783080"/>
          </a:xfrm>
          <a:prstGeom prst="roundRect">
            <a:avLst>
              <a:gd name="adj" fmla="val 4103"/>
            </a:avLst>
          </a:prstGeom>
          <a:solidFill>
            <a:srgbClr val="F5F6FA"/>
          </a:solidFill>
          <a:ln w="12700">
            <a:solidFill>
              <a:srgbClr val="E4E6F0"/>
            </a:solidFill>
            <a:prstDash val="solid"/>
          </a:ln>
        </p:spPr>
      </p:sp>
      <p:sp>
        <p:nvSpPr>
          <p:cNvPr id="14" name="Text 12"/>
          <p:cNvSpPr/>
          <p:nvPr/>
        </p:nvSpPr>
        <p:spPr>
          <a:xfrm>
            <a:off x="6373368" y="2697480"/>
            <a:ext cx="2130552" cy="594360"/>
          </a:xfrm>
          <a:prstGeom prst="rect">
            <a:avLst/>
          </a:prstGeom>
          <a:noFill/>
          <a:ln/>
        </p:spPr>
        <p:txBody>
          <a:bodyPr wrap="square" lIns="0" tIns="0" rIns="0" bIns="0" rtlCol="0" anchor="ctr"/>
          <a:lstStyle/>
          <a:p>
            <a:pPr indent="0" marL="0">
              <a:buNone/>
            </a:pPr>
            <a:r>
              <a:rPr lang="en-US" sz="3000" b="1" dirty="0">
                <a:solidFill>
                  <a:srgbClr val="14172B"/>
                </a:solidFill>
                <a:latin typeface="Cambria" pitchFamily="34" charset="0"/>
                <a:ea typeface="Cambria" pitchFamily="34" charset="-122"/>
                <a:cs typeface="Cambria" pitchFamily="34" charset="-120"/>
              </a:rPr>
              <a:t>$11.35</a:t>
            </a:r>
            <a:endParaRPr lang="en-US" sz="3000" dirty="0"/>
          </a:p>
        </p:txBody>
      </p:sp>
      <p:sp>
        <p:nvSpPr>
          <p:cNvPr id="15" name="Text 13"/>
          <p:cNvSpPr/>
          <p:nvPr/>
        </p:nvSpPr>
        <p:spPr>
          <a:xfrm>
            <a:off x="6373368" y="3337560"/>
            <a:ext cx="2130552" cy="320040"/>
          </a:xfrm>
          <a:prstGeom prst="rect">
            <a:avLst/>
          </a:prstGeom>
          <a:noFill/>
          <a:ln/>
        </p:spPr>
        <p:txBody>
          <a:bodyPr wrap="square" lIns="0" tIns="0" rIns="0" bIns="0" rtlCol="0" anchor="ctr"/>
          <a:lstStyle/>
          <a:p>
            <a:pPr indent="0" marL="0">
              <a:buNone/>
            </a:pPr>
            <a:r>
              <a:rPr lang="en-US" sz="1250" b="1" dirty="0">
                <a:solidFill>
                  <a:srgbClr val="1B1F2A"/>
                </a:solidFill>
                <a:latin typeface="Calibri" pitchFamily="34" charset="0"/>
                <a:ea typeface="Calibri" pitchFamily="34" charset="-122"/>
                <a:cs typeface="Calibri" pitchFamily="34" charset="-120"/>
              </a:rPr>
              <a:t>average fare</a:t>
            </a:r>
            <a:endParaRPr lang="en-US" sz="1250" dirty="0"/>
          </a:p>
        </p:txBody>
      </p:sp>
      <p:sp>
        <p:nvSpPr>
          <p:cNvPr id="16" name="Text 14"/>
          <p:cNvSpPr/>
          <p:nvPr/>
        </p:nvSpPr>
        <p:spPr>
          <a:xfrm>
            <a:off x="6373368" y="3657600"/>
            <a:ext cx="2130552" cy="548640"/>
          </a:xfrm>
          <a:prstGeom prst="rect">
            <a:avLst/>
          </a:prstGeom>
          <a:noFill/>
          <a:ln/>
        </p:spPr>
        <p:txBody>
          <a:bodyPr wrap="square" lIns="0" tIns="0" rIns="0" bIns="0" rtlCol="0" anchor="ctr"/>
          <a:lstStyle/>
          <a:p>
            <a:pPr indent="0" marL="0">
              <a:lnSpc>
                <a:spcPts val="1300"/>
              </a:lnSpc>
              <a:buNone/>
            </a:pPr>
            <a:r>
              <a:rPr lang="en-US" sz="1050" dirty="0">
                <a:solidFill>
                  <a:srgbClr val="6B7086"/>
                </a:solidFill>
                <a:latin typeface="Calibri" pitchFamily="34" charset="0"/>
                <a:ea typeface="Calibri" pitchFamily="34" charset="-122"/>
                <a:cs typeface="Calibri" pitchFamily="34" charset="-120"/>
              </a:rPr>
              <a:t>median sits lower, at $8.50</a:t>
            </a:r>
            <a:endParaRPr lang="en-US" sz="1050" dirty="0"/>
          </a:p>
        </p:txBody>
      </p:sp>
      <p:sp>
        <p:nvSpPr>
          <p:cNvPr id="17" name="Shape 15"/>
          <p:cNvSpPr/>
          <p:nvPr/>
        </p:nvSpPr>
        <p:spPr>
          <a:xfrm>
            <a:off x="8942832" y="2514600"/>
            <a:ext cx="2542032" cy="1783080"/>
          </a:xfrm>
          <a:prstGeom prst="roundRect">
            <a:avLst>
              <a:gd name="adj" fmla="val 4103"/>
            </a:avLst>
          </a:prstGeom>
          <a:solidFill>
            <a:srgbClr val="F5F6FA"/>
          </a:solidFill>
          <a:ln w="12700">
            <a:solidFill>
              <a:srgbClr val="E4E6F0"/>
            </a:solidFill>
            <a:prstDash val="solid"/>
          </a:ln>
        </p:spPr>
      </p:sp>
      <p:sp>
        <p:nvSpPr>
          <p:cNvPr id="18" name="Text 16"/>
          <p:cNvSpPr/>
          <p:nvPr/>
        </p:nvSpPr>
        <p:spPr>
          <a:xfrm>
            <a:off x="9171432" y="2697480"/>
            <a:ext cx="2130552" cy="594360"/>
          </a:xfrm>
          <a:prstGeom prst="rect">
            <a:avLst/>
          </a:prstGeom>
          <a:noFill/>
          <a:ln/>
        </p:spPr>
        <p:txBody>
          <a:bodyPr wrap="square" lIns="0" tIns="0" rIns="0" bIns="0" rtlCol="0" anchor="ctr"/>
          <a:lstStyle/>
          <a:p>
            <a:pPr indent="0" marL="0">
              <a:buNone/>
            </a:pPr>
            <a:r>
              <a:rPr lang="en-US" sz="3000" b="1" dirty="0">
                <a:solidFill>
                  <a:srgbClr val="14172B"/>
                </a:solidFill>
                <a:latin typeface="Cambria" pitchFamily="34" charset="0"/>
                <a:ea typeface="Cambria" pitchFamily="34" charset="-122"/>
                <a:cs typeface="Cambria" pitchFamily="34" charset="-120"/>
              </a:rPr>
              <a:t>8</a:t>
            </a:r>
            <a:endParaRPr lang="en-US" sz="3000" dirty="0"/>
          </a:p>
        </p:txBody>
      </p:sp>
      <p:sp>
        <p:nvSpPr>
          <p:cNvPr id="19" name="Text 17"/>
          <p:cNvSpPr/>
          <p:nvPr/>
        </p:nvSpPr>
        <p:spPr>
          <a:xfrm>
            <a:off x="9171432" y="3337560"/>
            <a:ext cx="2130552" cy="320040"/>
          </a:xfrm>
          <a:prstGeom prst="rect">
            <a:avLst/>
          </a:prstGeom>
          <a:noFill/>
          <a:ln/>
        </p:spPr>
        <p:txBody>
          <a:bodyPr wrap="square" lIns="0" tIns="0" rIns="0" bIns="0" rtlCol="0" anchor="ctr"/>
          <a:lstStyle/>
          <a:p>
            <a:pPr indent="0" marL="0">
              <a:buNone/>
            </a:pPr>
            <a:r>
              <a:rPr lang="en-US" sz="1250" b="1" dirty="0">
                <a:solidFill>
                  <a:srgbClr val="1B1F2A"/>
                </a:solidFill>
                <a:latin typeface="Calibri" pitchFamily="34" charset="0"/>
                <a:ea typeface="Calibri" pitchFamily="34" charset="-122"/>
                <a:cs typeface="Calibri" pitchFamily="34" charset="-120"/>
              </a:rPr>
              <a:t>questions explored</a:t>
            </a:r>
            <a:endParaRPr lang="en-US" sz="1250" dirty="0"/>
          </a:p>
        </p:txBody>
      </p:sp>
      <p:sp>
        <p:nvSpPr>
          <p:cNvPr id="20" name="Text 18"/>
          <p:cNvSpPr/>
          <p:nvPr/>
        </p:nvSpPr>
        <p:spPr>
          <a:xfrm>
            <a:off x="9171432" y="3657600"/>
            <a:ext cx="2130552" cy="548640"/>
          </a:xfrm>
          <a:prstGeom prst="rect">
            <a:avLst/>
          </a:prstGeom>
          <a:noFill/>
          <a:ln/>
        </p:spPr>
        <p:txBody>
          <a:bodyPr wrap="square" lIns="0" tIns="0" rIns="0" bIns="0" rtlCol="0" anchor="ctr"/>
          <a:lstStyle/>
          <a:p>
            <a:pPr indent="0" marL="0">
              <a:lnSpc>
                <a:spcPts val="1300"/>
              </a:lnSpc>
              <a:buNone/>
            </a:pPr>
            <a:r>
              <a:rPr lang="en-US" sz="1050" dirty="0">
                <a:solidFill>
                  <a:srgbClr val="6B7086"/>
                </a:solidFill>
                <a:latin typeface="Calibri" pitchFamily="34" charset="0"/>
                <a:ea typeface="Calibri" pitchFamily="34" charset="-122"/>
                <a:cs typeface="Calibri" pitchFamily="34" charset="-120"/>
              </a:rPr>
              <a:t>one chart type chosen per question</a:t>
            </a:r>
            <a:endParaRPr lang="en-US" sz="1050" dirty="0"/>
          </a:p>
        </p:txBody>
      </p:sp>
      <p:sp>
        <p:nvSpPr>
          <p:cNvPr id="21" name="Text 19"/>
          <p:cNvSpPr/>
          <p:nvPr/>
        </p:nvSpPr>
        <p:spPr>
          <a:xfrm>
            <a:off x="548640" y="4617720"/>
            <a:ext cx="5486400" cy="274320"/>
          </a:xfrm>
          <a:prstGeom prst="rect">
            <a:avLst/>
          </a:prstGeom>
          <a:noFill/>
          <a:ln/>
        </p:spPr>
        <p:txBody>
          <a:bodyPr wrap="square" rtlCol="0" anchor="ctr"/>
          <a:lstStyle/>
          <a:p>
            <a:pPr indent="0" marL="0">
              <a:buNone/>
            </a:pPr>
            <a:r>
              <a:rPr lang="en-US" sz="1150" b="1" spc="150" kern="0" dirty="0">
                <a:solidFill>
                  <a:srgbClr val="6B7086"/>
                </a:solidFill>
                <a:latin typeface="Calibri" pitchFamily="34" charset="0"/>
                <a:ea typeface="Calibri" pitchFamily="34" charset="-122"/>
                <a:cs typeface="Calibri" pitchFamily="34" charset="-120"/>
              </a:rPr>
              <a:t>CLEANING APPLIED</a:t>
            </a:r>
            <a:endParaRPr lang="en-US" sz="1150" dirty="0"/>
          </a:p>
        </p:txBody>
      </p:sp>
      <p:sp>
        <p:nvSpPr>
          <p:cNvPr id="22" name="Shape 20"/>
          <p:cNvSpPr/>
          <p:nvPr/>
        </p:nvSpPr>
        <p:spPr>
          <a:xfrm>
            <a:off x="548640" y="5010912"/>
            <a:ext cx="91440" cy="91440"/>
          </a:xfrm>
          <a:prstGeom prst="ellipse">
            <a:avLst/>
          </a:prstGeom>
          <a:solidFill>
            <a:srgbClr val="FFC300"/>
          </a:solidFill>
          <a:ln/>
        </p:spPr>
      </p:sp>
      <p:sp>
        <p:nvSpPr>
          <p:cNvPr id="23" name="Text 21"/>
          <p:cNvSpPr/>
          <p:nvPr/>
        </p:nvSpPr>
        <p:spPr>
          <a:xfrm>
            <a:off x="804672" y="4901184"/>
            <a:ext cx="10424160" cy="347472"/>
          </a:xfrm>
          <a:prstGeom prst="rect">
            <a:avLst/>
          </a:prstGeom>
          <a:noFill/>
          <a:ln/>
        </p:spPr>
        <p:txBody>
          <a:bodyPr wrap="square" rtlCol="0" anchor="ctr"/>
          <a:lstStyle/>
          <a:p>
            <a:pPr indent="0" marL="0">
              <a:buNone/>
            </a:pPr>
            <a:r>
              <a:rPr lang="en-US" sz="1250" dirty="0">
                <a:solidFill>
                  <a:srgbClr val="1B1F2A"/>
                </a:solidFill>
                <a:latin typeface="Calibri" pitchFamily="34" charset="0"/>
                <a:ea typeface="Calibri" pitchFamily="34" charset="-122"/>
                <a:cs typeface="Calibri" pitchFamily="34" charset="-120"/>
              </a:rPr>
              <a:t>Dropped rows missing fare, distance, hour, car condition, weather or traffic data</a:t>
            </a:r>
            <a:endParaRPr lang="en-US" sz="1250" dirty="0"/>
          </a:p>
        </p:txBody>
      </p:sp>
      <p:sp>
        <p:nvSpPr>
          <p:cNvPr id="24" name="Shape 22"/>
          <p:cNvSpPr/>
          <p:nvPr/>
        </p:nvSpPr>
        <p:spPr>
          <a:xfrm>
            <a:off x="548640" y="5394960"/>
            <a:ext cx="91440" cy="91440"/>
          </a:xfrm>
          <a:prstGeom prst="ellipse">
            <a:avLst/>
          </a:prstGeom>
          <a:solidFill>
            <a:srgbClr val="FFC300"/>
          </a:solidFill>
          <a:ln/>
        </p:spPr>
      </p:sp>
      <p:sp>
        <p:nvSpPr>
          <p:cNvPr id="25" name="Text 23"/>
          <p:cNvSpPr/>
          <p:nvPr/>
        </p:nvSpPr>
        <p:spPr>
          <a:xfrm>
            <a:off x="804672" y="5285232"/>
            <a:ext cx="10424160" cy="347472"/>
          </a:xfrm>
          <a:prstGeom prst="rect">
            <a:avLst/>
          </a:prstGeom>
          <a:noFill/>
          <a:ln/>
        </p:spPr>
        <p:txBody>
          <a:bodyPr wrap="square" rtlCol="0" anchor="ctr"/>
          <a:lstStyle/>
          <a:p>
            <a:pPr indent="0" marL="0">
              <a:buNone/>
            </a:pPr>
            <a:r>
              <a:rPr lang="en-US" sz="1250" dirty="0">
                <a:solidFill>
                  <a:srgbClr val="1B1F2A"/>
                </a:solidFill>
                <a:latin typeface="Calibri" pitchFamily="34" charset="0"/>
                <a:ea typeface="Calibri" pitchFamily="34" charset="-122"/>
                <a:cs typeface="Calibri" pitchFamily="34" charset="-120"/>
              </a:rPr>
              <a:t>Removed trips with zero or negative fare and zero or negative distance</a:t>
            </a:r>
            <a:endParaRPr lang="en-US" sz="1250" dirty="0"/>
          </a:p>
        </p:txBody>
      </p:sp>
      <p:sp>
        <p:nvSpPr>
          <p:cNvPr id="26" name="Shape 24"/>
          <p:cNvSpPr/>
          <p:nvPr/>
        </p:nvSpPr>
        <p:spPr>
          <a:xfrm>
            <a:off x="548640" y="5779008"/>
            <a:ext cx="91440" cy="91440"/>
          </a:xfrm>
          <a:prstGeom prst="ellipse">
            <a:avLst/>
          </a:prstGeom>
          <a:solidFill>
            <a:srgbClr val="FFC300"/>
          </a:solidFill>
          <a:ln/>
        </p:spPr>
      </p:sp>
      <p:sp>
        <p:nvSpPr>
          <p:cNvPr id="27" name="Text 25"/>
          <p:cNvSpPr/>
          <p:nvPr/>
        </p:nvSpPr>
        <p:spPr>
          <a:xfrm>
            <a:off x="804672" y="5669280"/>
            <a:ext cx="10424160" cy="347472"/>
          </a:xfrm>
          <a:prstGeom prst="rect">
            <a:avLst/>
          </a:prstGeom>
          <a:noFill/>
          <a:ln/>
        </p:spPr>
        <p:txBody>
          <a:bodyPr wrap="square" rtlCol="0" anchor="ctr"/>
          <a:lstStyle/>
          <a:p>
            <a:pPr indent="0" marL="0">
              <a:buNone/>
            </a:pPr>
            <a:r>
              <a:rPr lang="en-US" sz="1250" dirty="0">
                <a:solidFill>
                  <a:srgbClr val="1B1F2A"/>
                </a:solidFill>
                <a:latin typeface="Calibri" pitchFamily="34" charset="0"/>
                <a:ea typeface="Calibri" pitchFamily="34" charset="-122"/>
                <a:cs typeface="Calibri" pitchFamily="34" charset="-120"/>
              </a:rPr>
              <a:t>Converted hour to integer for grouped time-of-day analysis</a:t>
            </a:r>
            <a:endParaRPr lang="en-US" sz="1250" dirty="0"/>
          </a:p>
        </p:txBody>
      </p:sp>
      <p:sp>
        <p:nvSpPr>
          <p:cNvPr id="28" name="Text 26"/>
          <p:cNvSpPr/>
          <p:nvPr/>
        </p:nvSpPr>
        <p:spPr>
          <a:xfrm>
            <a:off x="11567160" y="6473952"/>
            <a:ext cx="457200" cy="274320"/>
          </a:xfrm>
          <a:prstGeom prst="rect">
            <a:avLst/>
          </a:prstGeom>
          <a:noFill/>
          <a:ln/>
        </p:spPr>
        <p:txBody>
          <a:bodyPr wrap="square" rtlCol="0" anchor="ctr"/>
          <a:lstStyle/>
          <a:p>
            <a:pPr algn="r" indent="0" marL="0">
              <a:buNone/>
            </a:pPr>
            <a:r>
              <a:rPr lang="en-US" sz="1000" dirty="0">
                <a:solidFill>
                  <a:srgbClr val="6B7086"/>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355080" y="502920"/>
            <a:ext cx="566928" cy="566928"/>
          </a:xfrm>
          <a:prstGeom prst="ellipse">
            <a:avLst/>
          </a:prstGeom>
          <a:solidFill>
            <a:srgbClr val="14172B"/>
          </a:solidFill>
          <a:ln/>
        </p:spPr>
      </p:sp>
      <p:sp>
        <p:nvSpPr>
          <p:cNvPr id="3" name="Text 1"/>
          <p:cNvSpPr/>
          <p:nvPr/>
        </p:nvSpPr>
        <p:spPr>
          <a:xfrm>
            <a:off x="6355080" y="502920"/>
            <a:ext cx="566928" cy="566928"/>
          </a:xfrm>
          <a:prstGeom prst="rect">
            <a:avLst/>
          </a:prstGeom>
          <a:noFill/>
          <a:ln/>
        </p:spPr>
        <p:txBody>
          <a:bodyPr wrap="square" lIns="0" tIns="0" rIns="0" bIns="0" rtlCol="0" anchor="ctr"/>
          <a:lstStyle/>
          <a:p>
            <a:pPr algn="ctr" indent="0" marL="0">
              <a:buNone/>
            </a:pPr>
            <a:r>
              <a:rPr lang="en-US" sz="2108" b="1" dirty="0">
                <a:solidFill>
                  <a:srgbClr val="FFC300"/>
                </a:solidFill>
                <a:latin typeface="Cambria" pitchFamily="34" charset="0"/>
                <a:ea typeface="Cambria" pitchFamily="34" charset="-122"/>
                <a:cs typeface="Cambria" pitchFamily="34" charset="-120"/>
              </a:rPr>
              <a:t>Q1</a:t>
            </a:r>
            <a:endParaRPr lang="en-US" sz="2108" dirty="0"/>
          </a:p>
        </p:txBody>
      </p:sp>
      <p:sp>
        <p:nvSpPr>
          <p:cNvPr id="4" name="Text 2"/>
          <p:cNvSpPr/>
          <p:nvPr/>
        </p:nvSpPr>
        <p:spPr>
          <a:xfrm>
            <a:off x="7104888" y="457200"/>
            <a:ext cx="4892040" cy="777240"/>
          </a:xfrm>
          <a:prstGeom prst="rect">
            <a:avLst/>
          </a:prstGeom>
          <a:noFill/>
          <a:ln/>
        </p:spPr>
        <p:txBody>
          <a:bodyPr wrap="square" rtlCol="0" anchor="ctr"/>
          <a:lstStyle/>
          <a:p>
            <a:pPr indent="0" marL="0">
              <a:lnSpc>
                <a:spcPts val="2100"/>
              </a:lnSpc>
              <a:buNone/>
            </a:pPr>
            <a:r>
              <a:rPr lang="en-US" sz="1800" b="1" dirty="0">
                <a:solidFill>
                  <a:srgbClr val="1B1F2A"/>
                </a:solidFill>
                <a:latin typeface="Cambria" pitchFamily="34" charset="0"/>
                <a:ea typeface="Cambria" pitchFamily="34" charset="-122"/>
                <a:cs typeface="Cambria" pitchFamily="34" charset="-120"/>
              </a:rPr>
              <a:t>Does carrying more passengers push the fare up?</a:t>
            </a:r>
            <a:endParaRPr lang="en-US" sz="1800" dirty="0"/>
          </a:p>
        </p:txBody>
      </p:sp>
      <p:sp>
        <p:nvSpPr>
          <p:cNvPr id="5" name="Shape 3"/>
          <p:cNvSpPr/>
          <p:nvPr/>
        </p:nvSpPr>
        <p:spPr>
          <a:xfrm>
            <a:off x="457200" y="1417320"/>
            <a:ext cx="5349240" cy="4892040"/>
          </a:xfrm>
          <a:prstGeom prst="roundRect">
            <a:avLst>
              <a:gd name="adj" fmla="val 1495"/>
            </a:avLst>
          </a:prstGeom>
          <a:solidFill>
            <a:srgbClr val="FFFFFF"/>
          </a:solidFill>
          <a:ln w="12700">
            <a:solidFill>
              <a:srgbClr val="DEDFE8"/>
            </a:solidFill>
            <a:prstDash val="solid"/>
          </a:ln>
          <a:effectLst>
            <a:outerShdw sx="100000" sy="100000" kx="0" ky="0" algn="bl" rotWithShape="0" blurRad="101600" dist="38100" dir="5400000">
              <a:srgbClr val="1B1F2A">
                <a:alpha val="18000"/>
              </a:srgbClr>
            </a:outerShdw>
          </a:effectLst>
        </p:spPr>
      </p:sp>
      <p:pic>
        <p:nvPicPr>
          <p:cNvPr id="6" name="Image 0" descr="/home/claude/imgs/q1_passenger_fare.png">    </p:cNvPr>
          <p:cNvPicPr>
            <a:picLocks noChangeAspect="1"/>
          </p:cNvPicPr>
          <p:nvPr/>
        </p:nvPicPr>
        <p:blipFill>
          <a:blip r:embed="rId1"/>
          <a:stretch>
            <a:fillRect/>
          </a:stretch>
        </p:blipFill>
        <p:spPr>
          <a:xfrm>
            <a:off x="658368" y="2182796"/>
            <a:ext cx="4946904" cy="3361088"/>
          </a:xfrm>
          <a:prstGeom prst="rect">
            <a:avLst/>
          </a:prstGeom>
        </p:spPr>
      </p:pic>
      <p:sp>
        <p:nvSpPr>
          <p:cNvPr id="7" name="Shape 4"/>
          <p:cNvSpPr/>
          <p:nvPr/>
        </p:nvSpPr>
        <p:spPr>
          <a:xfrm>
            <a:off x="6355080" y="1417320"/>
            <a:ext cx="5349240" cy="1051560"/>
          </a:xfrm>
          <a:prstGeom prst="roundRect">
            <a:avLst>
              <a:gd name="adj" fmla="val 6957"/>
            </a:avLst>
          </a:prstGeom>
          <a:solidFill>
            <a:srgbClr val="14172B"/>
          </a:solidFill>
          <a:ln/>
        </p:spPr>
      </p:sp>
      <p:sp>
        <p:nvSpPr>
          <p:cNvPr id="8" name="Text 5"/>
          <p:cNvSpPr/>
          <p:nvPr/>
        </p:nvSpPr>
        <p:spPr>
          <a:xfrm>
            <a:off x="6583680" y="1508760"/>
            <a:ext cx="1920240" cy="868680"/>
          </a:xfrm>
          <a:prstGeom prst="rect">
            <a:avLst/>
          </a:prstGeom>
          <a:noFill/>
          <a:ln/>
        </p:spPr>
        <p:txBody>
          <a:bodyPr wrap="square" lIns="0" tIns="0" rIns="0" bIns="0" rtlCol="0" anchor="ctr"/>
          <a:lstStyle/>
          <a:p>
            <a:pPr indent="0" marL="0">
              <a:buNone/>
            </a:pPr>
            <a:r>
              <a:rPr lang="en-US" sz="3000" b="1" dirty="0">
                <a:solidFill>
                  <a:srgbClr val="FFC300"/>
                </a:solidFill>
                <a:latin typeface="Cambria" pitchFamily="34" charset="0"/>
                <a:ea typeface="Cambria" pitchFamily="34" charset="-122"/>
                <a:cs typeface="Cambria" pitchFamily="34" charset="-120"/>
              </a:rPr>
              <a:t>0.018</a:t>
            </a:r>
            <a:endParaRPr lang="en-US" sz="3000" dirty="0"/>
          </a:p>
        </p:txBody>
      </p:sp>
      <p:sp>
        <p:nvSpPr>
          <p:cNvPr id="9" name="Text 6"/>
          <p:cNvSpPr/>
          <p:nvPr/>
        </p:nvSpPr>
        <p:spPr>
          <a:xfrm>
            <a:off x="8503920" y="1508760"/>
            <a:ext cx="3017520" cy="868680"/>
          </a:xfrm>
          <a:prstGeom prst="rect">
            <a:avLst/>
          </a:prstGeom>
          <a:noFill/>
          <a:ln/>
        </p:spPr>
        <p:txBody>
          <a:bodyPr wrap="square" lIns="0" tIns="0" rIns="0" bIns="0" rtlCol="0" anchor="ctr"/>
          <a:lstStyle/>
          <a:p>
            <a:pPr indent="0" marL="0">
              <a:lnSpc>
                <a:spcPts val="1500"/>
              </a:lnSpc>
              <a:buNone/>
            </a:pPr>
            <a:r>
              <a:rPr lang="en-US" sz="1250" dirty="0">
                <a:solidFill>
                  <a:srgbClr val="FFFFFF"/>
                </a:solidFill>
                <a:latin typeface="Calibri" pitchFamily="34" charset="0"/>
                <a:ea typeface="Calibri" pitchFamily="34" charset="-122"/>
                <a:cs typeface="Calibri" pitchFamily="34" charset="-120"/>
              </a:rPr>
              <a:t>correlation between passenger count and fare — effectively no linear relationship</a:t>
            </a:r>
            <a:endParaRPr lang="en-US" sz="1250" dirty="0"/>
          </a:p>
        </p:txBody>
      </p:sp>
      <p:sp>
        <p:nvSpPr>
          <p:cNvPr id="10" name="Text 7"/>
          <p:cNvSpPr/>
          <p:nvPr/>
        </p:nvSpPr>
        <p:spPr>
          <a:xfrm>
            <a:off x="6355080" y="2697480"/>
            <a:ext cx="5349240" cy="320040"/>
          </a:xfrm>
          <a:prstGeom prst="rect">
            <a:avLst/>
          </a:prstGeom>
          <a:noFill/>
          <a:ln/>
        </p:spPr>
        <p:txBody>
          <a:bodyPr wrap="square" rtlCol="0" anchor="ctr"/>
          <a:lstStyle/>
          <a:p>
            <a:pPr indent="0" marL="0">
              <a:buNone/>
            </a:pPr>
            <a:r>
              <a:rPr lang="en-US" sz="1300" b="1" spc="100" kern="0" dirty="0">
                <a:solidFill>
                  <a:srgbClr val="14172B"/>
                </a:solidFill>
                <a:latin typeface="Calibri" pitchFamily="34" charset="0"/>
                <a:ea typeface="Calibri" pitchFamily="34" charset="-122"/>
                <a:cs typeface="Calibri" pitchFamily="34" charset="-120"/>
              </a:rPr>
              <a:t>WHY A SCATTER PLOT</a:t>
            </a:r>
            <a:endParaRPr lang="en-US" sz="1300" dirty="0"/>
          </a:p>
        </p:txBody>
      </p:sp>
      <p:sp>
        <p:nvSpPr>
          <p:cNvPr id="11" name="Text 8"/>
          <p:cNvSpPr/>
          <p:nvPr/>
        </p:nvSpPr>
        <p:spPr>
          <a:xfrm>
            <a:off x="6355080" y="3017520"/>
            <a:ext cx="5349240" cy="2880360"/>
          </a:xfrm>
          <a:prstGeom prst="rect">
            <a:avLst/>
          </a:prstGeom>
          <a:noFill/>
          <a:ln/>
        </p:spPr>
        <p:txBody>
          <a:bodyPr wrap="square" rtlCol="0" anchor="t"/>
          <a:lstStyle/>
          <a:p>
            <a:pPr indent="0" marL="0">
              <a:lnSpc>
                <a:spcPts val="1900"/>
              </a:lnSpc>
              <a:buNone/>
            </a:pPr>
            <a:r>
              <a:rPr lang="en-US" sz="1350" dirty="0">
                <a:solidFill>
                  <a:srgbClr val="1B1F2A"/>
                </a:solidFill>
                <a:latin typeface="Calibri" pitchFamily="34" charset="0"/>
                <a:ea typeface="Calibri" pitchFamily="34" charset="-122"/>
                <a:cs typeface="Calibri" pitchFamily="34" charset="-120"/>
              </a:rPr>
              <a:t>Both passenger_count and fare_amount are numeric, so a scatter plot is the direct way to look for a trend between them.</a:t>
            </a:r>
            <a:endParaRPr lang="en-US" sz="1350" dirty="0"/>
          </a:p>
          <a:p>
            <a:pPr indent="0" marL="0">
              <a:lnSpc>
                <a:spcPts val="1900"/>
              </a:lnSpc>
              <a:buNone/>
            </a:pPr>
            <a:endParaRPr lang="en-US" sz="1350" dirty="0"/>
          </a:p>
          <a:p>
            <a:pPr indent="0" marL="0">
              <a:lnSpc>
                <a:spcPts val="1900"/>
              </a:lnSpc>
              <a:buNone/>
            </a:pPr>
            <a:r>
              <a:rPr lang="en-US" sz="1350" dirty="0">
                <a:solidFill>
                  <a:srgbClr val="1B1F2A"/>
                </a:solidFill>
                <a:latin typeface="Calibri" pitchFamily="34" charset="0"/>
                <a:ea typeface="Calibri" pitchFamily="34" charset="-122"/>
                <a:cs typeface="Calibri" pitchFamily="34" charset="-120"/>
              </a:rPr>
              <a:t>The points spread out with no visible upward drift as passenger count rises. Uber's flat per-trip pricing — rather than per-passenger pricing — is the likely explanation: a solo rider and a group of five pay for the same trip, not extra seats.</a:t>
            </a:r>
            <a:endParaRPr lang="en-US" sz="1350" dirty="0"/>
          </a:p>
        </p:txBody>
      </p:sp>
      <p:sp>
        <p:nvSpPr>
          <p:cNvPr id="12" name="Text 9"/>
          <p:cNvSpPr/>
          <p:nvPr/>
        </p:nvSpPr>
        <p:spPr>
          <a:xfrm>
            <a:off x="11567160" y="6473952"/>
            <a:ext cx="457200" cy="274320"/>
          </a:xfrm>
          <a:prstGeom prst="rect">
            <a:avLst/>
          </a:prstGeom>
          <a:noFill/>
          <a:ln/>
        </p:spPr>
        <p:txBody>
          <a:bodyPr wrap="square" rtlCol="0" anchor="ctr"/>
          <a:lstStyle/>
          <a:p>
            <a:pPr algn="r" indent="0" marL="0">
              <a:buNone/>
            </a:pPr>
            <a:r>
              <a:rPr lang="en-US" sz="1000" dirty="0">
                <a:solidFill>
                  <a:srgbClr val="6B7086"/>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566928" cy="566928"/>
          </a:xfrm>
          <a:prstGeom prst="ellipse">
            <a:avLst/>
          </a:prstGeom>
          <a:solidFill>
            <a:srgbClr val="14172B"/>
          </a:solidFill>
          <a:ln/>
        </p:spPr>
      </p:sp>
      <p:sp>
        <p:nvSpPr>
          <p:cNvPr id="3" name="Text 1"/>
          <p:cNvSpPr/>
          <p:nvPr/>
        </p:nvSpPr>
        <p:spPr>
          <a:xfrm>
            <a:off x="457200" y="502920"/>
            <a:ext cx="566928" cy="566928"/>
          </a:xfrm>
          <a:prstGeom prst="rect">
            <a:avLst/>
          </a:prstGeom>
          <a:noFill/>
          <a:ln/>
        </p:spPr>
        <p:txBody>
          <a:bodyPr wrap="square" lIns="0" tIns="0" rIns="0" bIns="0" rtlCol="0" anchor="ctr"/>
          <a:lstStyle/>
          <a:p>
            <a:pPr algn="ctr" indent="0" marL="0">
              <a:buNone/>
            </a:pPr>
            <a:r>
              <a:rPr lang="en-US" sz="2108" b="1" dirty="0">
                <a:solidFill>
                  <a:srgbClr val="FFC300"/>
                </a:solidFill>
                <a:latin typeface="Cambria" pitchFamily="34" charset="0"/>
                <a:ea typeface="Cambria" pitchFamily="34" charset="-122"/>
                <a:cs typeface="Cambria" pitchFamily="34" charset="-120"/>
              </a:rPr>
              <a:t>Q2</a:t>
            </a:r>
            <a:endParaRPr lang="en-US" sz="2108" dirty="0"/>
          </a:p>
        </p:txBody>
      </p:sp>
      <p:sp>
        <p:nvSpPr>
          <p:cNvPr id="4" name="Text 2"/>
          <p:cNvSpPr/>
          <p:nvPr/>
        </p:nvSpPr>
        <p:spPr>
          <a:xfrm>
            <a:off x="1207008" y="457200"/>
            <a:ext cx="4892040" cy="777240"/>
          </a:xfrm>
          <a:prstGeom prst="rect">
            <a:avLst/>
          </a:prstGeom>
          <a:noFill/>
          <a:ln/>
        </p:spPr>
        <p:txBody>
          <a:bodyPr wrap="square" rtlCol="0" anchor="ctr"/>
          <a:lstStyle/>
          <a:p>
            <a:pPr indent="0" marL="0">
              <a:lnSpc>
                <a:spcPts val="2100"/>
              </a:lnSpc>
              <a:buNone/>
            </a:pPr>
            <a:r>
              <a:rPr lang="en-US" sz="1800" b="1" dirty="0">
                <a:solidFill>
                  <a:srgbClr val="1B1F2A"/>
                </a:solidFill>
                <a:latin typeface="Cambria" pitchFamily="34" charset="0"/>
                <a:ea typeface="Cambria" pitchFamily="34" charset="-122"/>
                <a:cs typeface="Cambria" pitchFamily="34" charset="-120"/>
              </a:rPr>
              <a:t>Does the vehicle's condition change what riders pay?</a:t>
            </a:r>
            <a:endParaRPr lang="en-US" sz="1800" dirty="0"/>
          </a:p>
        </p:txBody>
      </p:sp>
      <p:sp>
        <p:nvSpPr>
          <p:cNvPr id="5" name="Shape 3"/>
          <p:cNvSpPr/>
          <p:nvPr/>
        </p:nvSpPr>
        <p:spPr>
          <a:xfrm>
            <a:off x="6355080" y="1417320"/>
            <a:ext cx="5349240" cy="4892040"/>
          </a:xfrm>
          <a:prstGeom prst="roundRect">
            <a:avLst>
              <a:gd name="adj" fmla="val 1495"/>
            </a:avLst>
          </a:prstGeom>
          <a:solidFill>
            <a:srgbClr val="FFFFFF"/>
          </a:solidFill>
          <a:ln w="12700">
            <a:solidFill>
              <a:srgbClr val="DEDFE8"/>
            </a:solidFill>
            <a:prstDash val="solid"/>
          </a:ln>
          <a:effectLst>
            <a:outerShdw sx="100000" sy="100000" kx="0" ky="0" algn="bl" rotWithShape="0" blurRad="101600" dist="38100" dir="5400000">
              <a:srgbClr val="1B1F2A">
                <a:alpha val="18000"/>
              </a:srgbClr>
            </a:outerShdw>
          </a:effectLst>
        </p:spPr>
      </p:sp>
      <p:pic>
        <p:nvPicPr>
          <p:cNvPr id="6" name="Image 0" descr="/home/claude/imgs/q2_carcondition_fare.png">    </p:cNvPr>
          <p:cNvPicPr>
            <a:picLocks noChangeAspect="1"/>
          </p:cNvPicPr>
          <p:nvPr/>
        </p:nvPicPr>
        <p:blipFill>
          <a:blip r:embed="rId1"/>
          <a:stretch>
            <a:fillRect/>
          </a:stretch>
        </p:blipFill>
        <p:spPr>
          <a:xfrm>
            <a:off x="6556248" y="2024835"/>
            <a:ext cx="4946904" cy="3677009"/>
          </a:xfrm>
          <a:prstGeom prst="rect">
            <a:avLst/>
          </a:prstGeom>
        </p:spPr>
      </p:pic>
      <p:sp>
        <p:nvSpPr>
          <p:cNvPr id="7" name="Shape 4"/>
          <p:cNvSpPr/>
          <p:nvPr/>
        </p:nvSpPr>
        <p:spPr>
          <a:xfrm>
            <a:off x="457200" y="1417320"/>
            <a:ext cx="5349240" cy="1051560"/>
          </a:xfrm>
          <a:prstGeom prst="roundRect">
            <a:avLst>
              <a:gd name="adj" fmla="val 6957"/>
            </a:avLst>
          </a:prstGeom>
          <a:solidFill>
            <a:srgbClr val="14172B"/>
          </a:solidFill>
          <a:ln/>
        </p:spPr>
      </p:sp>
      <p:sp>
        <p:nvSpPr>
          <p:cNvPr id="8" name="Text 5"/>
          <p:cNvSpPr/>
          <p:nvPr/>
        </p:nvSpPr>
        <p:spPr>
          <a:xfrm>
            <a:off x="685800" y="1508760"/>
            <a:ext cx="1920240" cy="868680"/>
          </a:xfrm>
          <a:prstGeom prst="rect">
            <a:avLst/>
          </a:prstGeom>
          <a:noFill/>
          <a:ln/>
        </p:spPr>
        <p:txBody>
          <a:bodyPr wrap="square" lIns="0" tIns="0" rIns="0" bIns="0" rtlCol="0" anchor="ctr"/>
          <a:lstStyle/>
          <a:p>
            <a:pPr indent="0" marL="0">
              <a:buNone/>
            </a:pPr>
            <a:r>
              <a:rPr lang="en-US" sz="3000" b="1" dirty="0">
                <a:solidFill>
                  <a:srgbClr val="FFC300"/>
                </a:solidFill>
                <a:latin typeface="Cambria" pitchFamily="34" charset="0"/>
                <a:ea typeface="Cambria" pitchFamily="34" charset="-122"/>
                <a:cs typeface="Cambria" pitchFamily="34" charset="-120"/>
              </a:rPr>
              <a:t>$8.50</a:t>
            </a:r>
            <a:endParaRPr lang="en-US" sz="3000" dirty="0"/>
          </a:p>
        </p:txBody>
      </p:sp>
      <p:sp>
        <p:nvSpPr>
          <p:cNvPr id="9" name="Text 6"/>
          <p:cNvSpPr/>
          <p:nvPr/>
        </p:nvSpPr>
        <p:spPr>
          <a:xfrm>
            <a:off x="2606040" y="1508760"/>
            <a:ext cx="3017520" cy="868680"/>
          </a:xfrm>
          <a:prstGeom prst="rect">
            <a:avLst/>
          </a:prstGeom>
          <a:noFill/>
          <a:ln/>
        </p:spPr>
        <p:txBody>
          <a:bodyPr wrap="square" lIns="0" tIns="0" rIns="0" bIns="0" rtlCol="0" anchor="ctr"/>
          <a:lstStyle/>
          <a:p>
            <a:pPr indent="0" marL="0">
              <a:lnSpc>
                <a:spcPts val="1500"/>
              </a:lnSpc>
              <a:buNone/>
            </a:pPr>
            <a:r>
              <a:rPr lang="en-US" sz="1250" dirty="0">
                <a:solidFill>
                  <a:srgbClr val="FFFFFF"/>
                </a:solidFill>
                <a:latin typeface="Calibri" pitchFamily="34" charset="0"/>
                <a:ea typeface="Calibri" pitchFamily="34" charset="-122"/>
                <a:cs typeface="Calibri" pitchFamily="34" charset="-120"/>
              </a:rPr>
              <a:t>identical median fare across Bad, Good, Very Good and Excellent vehicles</a:t>
            </a:r>
            <a:endParaRPr lang="en-US" sz="1250" dirty="0"/>
          </a:p>
        </p:txBody>
      </p:sp>
      <p:sp>
        <p:nvSpPr>
          <p:cNvPr id="10" name="Text 7"/>
          <p:cNvSpPr/>
          <p:nvPr/>
        </p:nvSpPr>
        <p:spPr>
          <a:xfrm>
            <a:off x="457200" y="2697480"/>
            <a:ext cx="5349240" cy="320040"/>
          </a:xfrm>
          <a:prstGeom prst="rect">
            <a:avLst/>
          </a:prstGeom>
          <a:noFill/>
          <a:ln/>
        </p:spPr>
        <p:txBody>
          <a:bodyPr wrap="square" rtlCol="0" anchor="ctr"/>
          <a:lstStyle/>
          <a:p>
            <a:pPr indent="0" marL="0">
              <a:buNone/>
            </a:pPr>
            <a:r>
              <a:rPr lang="en-US" sz="1300" b="1" spc="100" kern="0" dirty="0">
                <a:solidFill>
                  <a:srgbClr val="14172B"/>
                </a:solidFill>
                <a:latin typeface="Calibri" pitchFamily="34" charset="0"/>
                <a:ea typeface="Calibri" pitchFamily="34" charset="-122"/>
                <a:cs typeface="Calibri" pitchFamily="34" charset="-120"/>
              </a:rPr>
              <a:t>WHY A BOXPLOT</a:t>
            </a:r>
            <a:endParaRPr lang="en-US" sz="1300" dirty="0"/>
          </a:p>
        </p:txBody>
      </p:sp>
      <p:sp>
        <p:nvSpPr>
          <p:cNvPr id="11" name="Text 8"/>
          <p:cNvSpPr/>
          <p:nvPr/>
        </p:nvSpPr>
        <p:spPr>
          <a:xfrm>
            <a:off x="457200" y="3017520"/>
            <a:ext cx="5349240" cy="2880360"/>
          </a:xfrm>
          <a:prstGeom prst="rect">
            <a:avLst/>
          </a:prstGeom>
          <a:noFill/>
          <a:ln/>
        </p:spPr>
        <p:txBody>
          <a:bodyPr wrap="square" rtlCol="0" anchor="t"/>
          <a:lstStyle/>
          <a:p>
            <a:pPr indent="0" marL="0">
              <a:lnSpc>
                <a:spcPts val="1900"/>
              </a:lnSpc>
              <a:buNone/>
            </a:pPr>
            <a:r>
              <a:rPr lang="en-US" sz="1350" dirty="0">
                <a:solidFill>
                  <a:srgbClr val="1B1F2A"/>
                </a:solidFill>
                <a:latin typeface="Calibri" pitchFamily="34" charset="0"/>
                <a:ea typeface="Calibri" pitchFamily="34" charset="-122"/>
                <a:cs typeface="Calibri" pitchFamily="34" charset="-120"/>
              </a:rPr>
              <a:t>Car_Condition is categorical and fare is numeric, so a boxplot compares the full fare distribution — not just the average — across each condition.</a:t>
            </a:r>
            <a:endParaRPr lang="en-US" sz="1350" dirty="0"/>
          </a:p>
          <a:p>
            <a:pPr indent="0" marL="0">
              <a:lnSpc>
                <a:spcPts val="1900"/>
              </a:lnSpc>
              <a:buNone/>
            </a:pPr>
            <a:endParaRPr lang="en-US" sz="1350" dirty="0"/>
          </a:p>
          <a:p>
            <a:pPr indent="0" marL="0">
              <a:lnSpc>
                <a:spcPts val="1900"/>
              </a:lnSpc>
              <a:buNone/>
            </a:pPr>
            <a:r>
              <a:rPr lang="en-US" sz="1350" dirty="0">
                <a:solidFill>
                  <a:srgbClr val="1B1F2A"/>
                </a:solidFill>
                <a:latin typeface="Calibri" pitchFamily="34" charset="0"/>
                <a:ea typeface="Calibri" pitchFamily="34" charset="-122"/>
                <a:cs typeface="Calibri" pitchFamily="34" charset="-120"/>
              </a:rPr>
              <a:t>Mean fares vary by barely a dollar ($11.20–$11.51) and every category shares the same $8.50 median. Vehicle condition is a service-quality signal, not a pricing input — fares are set by the trip, not the car.</a:t>
            </a:r>
            <a:endParaRPr lang="en-US" sz="1350" dirty="0"/>
          </a:p>
        </p:txBody>
      </p:sp>
      <p:sp>
        <p:nvSpPr>
          <p:cNvPr id="12" name="Text 9"/>
          <p:cNvSpPr/>
          <p:nvPr/>
        </p:nvSpPr>
        <p:spPr>
          <a:xfrm>
            <a:off x="11567160" y="6473952"/>
            <a:ext cx="457200" cy="274320"/>
          </a:xfrm>
          <a:prstGeom prst="rect">
            <a:avLst/>
          </a:prstGeom>
          <a:noFill/>
          <a:ln/>
        </p:spPr>
        <p:txBody>
          <a:bodyPr wrap="square" rtlCol="0" anchor="ctr"/>
          <a:lstStyle/>
          <a:p>
            <a:pPr algn="r" indent="0" marL="0">
              <a:buNone/>
            </a:pPr>
            <a:r>
              <a:rPr lang="en-US" sz="1000" dirty="0">
                <a:solidFill>
                  <a:srgbClr val="6B7086"/>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355080" y="502920"/>
            <a:ext cx="566928" cy="566928"/>
          </a:xfrm>
          <a:prstGeom prst="ellipse">
            <a:avLst/>
          </a:prstGeom>
          <a:solidFill>
            <a:srgbClr val="14172B"/>
          </a:solidFill>
          <a:ln/>
        </p:spPr>
      </p:sp>
      <p:sp>
        <p:nvSpPr>
          <p:cNvPr id="3" name="Text 1"/>
          <p:cNvSpPr/>
          <p:nvPr/>
        </p:nvSpPr>
        <p:spPr>
          <a:xfrm>
            <a:off x="6355080" y="502920"/>
            <a:ext cx="566928" cy="566928"/>
          </a:xfrm>
          <a:prstGeom prst="rect">
            <a:avLst/>
          </a:prstGeom>
          <a:noFill/>
          <a:ln/>
        </p:spPr>
        <p:txBody>
          <a:bodyPr wrap="square" lIns="0" tIns="0" rIns="0" bIns="0" rtlCol="0" anchor="ctr"/>
          <a:lstStyle/>
          <a:p>
            <a:pPr algn="ctr" indent="0" marL="0">
              <a:buNone/>
            </a:pPr>
            <a:r>
              <a:rPr lang="en-US" sz="2108" b="1" dirty="0">
                <a:solidFill>
                  <a:srgbClr val="FFC300"/>
                </a:solidFill>
                <a:latin typeface="Cambria" pitchFamily="34" charset="0"/>
                <a:ea typeface="Cambria" pitchFamily="34" charset="-122"/>
                <a:cs typeface="Cambria" pitchFamily="34" charset="-120"/>
              </a:rPr>
              <a:t>Q3</a:t>
            </a:r>
            <a:endParaRPr lang="en-US" sz="2108" dirty="0"/>
          </a:p>
        </p:txBody>
      </p:sp>
      <p:sp>
        <p:nvSpPr>
          <p:cNvPr id="4" name="Text 2"/>
          <p:cNvSpPr/>
          <p:nvPr/>
        </p:nvSpPr>
        <p:spPr>
          <a:xfrm>
            <a:off x="7104888" y="457200"/>
            <a:ext cx="4892040" cy="777240"/>
          </a:xfrm>
          <a:prstGeom prst="rect">
            <a:avLst/>
          </a:prstGeom>
          <a:noFill/>
          <a:ln/>
        </p:spPr>
        <p:txBody>
          <a:bodyPr wrap="square" rtlCol="0" anchor="ctr"/>
          <a:lstStyle/>
          <a:p>
            <a:pPr indent="0" marL="0">
              <a:lnSpc>
                <a:spcPts val="2100"/>
              </a:lnSpc>
              <a:buNone/>
            </a:pPr>
            <a:r>
              <a:rPr lang="en-US" sz="1800" b="1" dirty="0">
                <a:solidFill>
                  <a:srgbClr val="1B1F2A"/>
                </a:solidFill>
                <a:latin typeface="Cambria" pitchFamily="34" charset="0"/>
                <a:ea typeface="Cambria" pitchFamily="34" charset="-122"/>
                <a:cs typeface="Cambria" pitchFamily="34" charset="-120"/>
              </a:rPr>
              <a:t>At what hour of the day are fares typically highest?</a:t>
            </a:r>
            <a:endParaRPr lang="en-US" sz="1800" dirty="0"/>
          </a:p>
        </p:txBody>
      </p:sp>
      <p:sp>
        <p:nvSpPr>
          <p:cNvPr id="5" name="Shape 3"/>
          <p:cNvSpPr/>
          <p:nvPr/>
        </p:nvSpPr>
        <p:spPr>
          <a:xfrm>
            <a:off x="457200" y="1417320"/>
            <a:ext cx="5349240" cy="4892040"/>
          </a:xfrm>
          <a:prstGeom prst="roundRect">
            <a:avLst>
              <a:gd name="adj" fmla="val 1495"/>
            </a:avLst>
          </a:prstGeom>
          <a:solidFill>
            <a:srgbClr val="FFFFFF"/>
          </a:solidFill>
          <a:ln w="12700">
            <a:solidFill>
              <a:srgbClr val="DEDFE8"/>
            </a:solidFill>
            <a:prstDash val="solid"/>
          </a:ln>
          <a:effectLst>
            <a:outerShdw sx="100000" sy="100000" kx="0" ky="0" algn="bl" rotWithShape="0" blurRad="101600" dist="38100" dir="5400000">
              <a:srgbClr val="1B1F2A">
                <a:alpha val="18000"/>
              </a:srgbClr>
            </a:outerShdw>
          </a:effectLst>
        </p:spPr>
      </p:sp>
      <p:pic>
        <p:nvPicPr>
          <p:cNvPr id="6" name="Image 0" descr="/home/claude/imgs/q3_hourly_fare.png">    </p:cNvPr>
          <p:cNvPicPr>
            <a:picLocks noChangeAspect="1"/>
          </p:cNvPicPr>
          <p:nvPr/>
        </p:nvPicPr>
        <p:blipFill>
          <a:blip r:embed="rId1"/>
          <a:stretch>
            <a:fillRect/>
          </a:stretch>
        </p:blipFill>
        <p:spPr>
          <a:xfrm>
            <a:off x="658368" y="2471115"/>
            <a:ext cx="4946904" cy="2784450"/>
          </a:xfrm>
          <a:prstGeom prst="rect">
            <a:avLst/>
          </a:prstGeom>
        </p:spPr>
      </p:pic>
      <p:sp>
        <p:nvSpPr>
          <p:cNvPr id="7" name="Shape 4"/>
          <p:cNvSpPr/>
          <p:nvPr/>
        </p:nvSpPr>
        <p:spPr>
          <a:xfrm>
            <a:off x="6355080" y="1417320"/>
            <a:ext cx="5349240" cy="1051560"/>
          </a:xfrm>
          <a:prstGeom prst="roundRect">
            <a:avLst>
              <a:gd name="adj" fmla="val 6957"/>
            </a:avLst>
          </a:prstGeom>
          <a:solidFill>
            <a:srgbClr val="14172B"/>
          </a:solidFill>
          <a:ln/>
        </p:spPr>
      </p:sp>
      <p:sp>
        <p:nvSpPr>
          <p:cNvPr id="8" name="Text 5"/>
          <p:cNvSpPr/>
          <p:nvPr/>
        </p:nvSpPr>
        <p:spPr>
          <a:xfrm>
            <a:off x="6583680" y="1508760"/>
            <a:ext cx="1920240" cy="868680"/>
          </a:xfrm>
          <a:prstGeom prst="rect">
            <a:avLst/>
          </a:prstGeom>
          <a:noFill/>
          <a:ln/>
        </p:spPr>
        <p:txBody>
          <a:bodyPr wrap="square" lIns="0" tIns="0" rIns="0" bIns="0" rtlCol="0" anchor="ctr"/>
          <a:lstStyle/>
          <a:p>
            <a:pPr indent="0" marL="0">
              <a:buNone/>
            </a:pPr>
            <a:r>
              <a:rPr lang="en-US" sz="3000" b="1" dirty="0">
                <a:solidFill>
                  <a:srgbClr val="FFC300"/>
                </a:solidFill>
                <a:latin typeface="Cambria" pitchFamily="34" charset="0"/>
                <a:ea typeface="Cambria" pitchFamily="34" charset="-122"/>
                <a:cs typeface="Cambria" pitchFamily="34" charset="-120"/>
              </a:rPr>
              <a:t>5 AM</a:t>
            </a:r>
            <a:endParaRPr lang="en-US" sz="3000" dirty="0"/>
          </a:p>
        </p:txBody>
      </p:sp>
      <p:sp>
        <p:nvSpPr>
          <p:cNvPr id="9" name="Text 6"/>
          <p:cNvSpPr/>
          <p:nvPr/>
        </p:nvSpPr>
        <p:spPr>
          <a:xfrm>
            <a:off x="8503920" y="1508760"/>
            <a:ext cx="3017520" cy="868680"/>
          </a:xfrm>
          <a:prstGeom prst="rect">
            <a:avLst/>
          </a:prstGeom>
          <a:noFill/>
          <a:ln/>
        </p:spPr>
        <p:txBody>
          <a:bodyPr wrap="square" lIns="0" tIns="0" rIns="0" bIns="0" rtlCol="0" anchor="ctr"/>
          <a:lstStyle/>
          <a:p>
            <a:pPr indent="0" marL="0">
              <a:lnSpc>
                <a:spcPts val="1500"/>
              </a:lnSpc>
              <a:buNone/>
            </a:pPr>
            <a:r>
              <a:rPr lang="en-US" sz="1250" dirty="0">
                <a:solidFill>
                  <a:srgbClr val="FFFFFF"/>
                </a:solidFill>
                <a:latin typeface="Calibri" pitchFamily="34" charset="0"/>
                <a:ea typeface="Calibri" pitchFamily="34" charset="-122"/>
                <a:cs typeface="Calibri" pitchFamily="34" charset="-120"/>
              </a:rPr>
              <a:t>peak average fare, $15.30 — a small-sample spike, not rush hour</a:t>
            </a:r>
            <a:endParaRPr lang="en-US" sz="1250" dirty="0"/>
          </a:p>
        </p:txBody>
      </p:sp>
      <p:sp>
        <p:nvSpPr>
          <p:cNvPr id="10" name="Text 7"/>
          <p:cNvSpPr/>
          <p:nvPr/>
        </p:nvSpPr>
        <p:spPr>
          <a:xfrm>
            <a:off x="6355080" y="2697480"/>
            <a:ext cx="5349240" cy="320040"/>
          </a:xfrm>
          <a:prstGeom prst="rect">
            <a:avLst/>
          </a:prstGeom>
          <a:noFill/>
          <a:ln/>
        </p:spPr>
        <p:txBody>
          <a:bodyPr wrap="square" rtlCol="0" anchor="ctr"/>
          <a:lstStyle/>
          <a:p>
            <a:pPr indent="0" marL="0">
              <a:buNone/>
            </a:pPr>
            <a:r>
              <a:rPr lang="en-US" sz="1300" b="1" spc="100" kern="0" dirty="0">
                <a:solidFill>
                  <a:srgbClr val="14172B"/>
                </a:solidFill>
                <a:latin typeface="Calibri" pitchFamily="34" charset="0"/>
                <a:ea typeface="Calibri" pitchFamily="34" charset="-122"/>
                <a:cs typeface="Calibri" pitchFamily="34" charset="-120"/>
              </a:rPr>
              <a:t>WHY A LINE PLOT</a:t>
            </a:r>
            <a:endParaRPr lang="en-US" sz="1300" dirty="0"/>
          </a:p>
        </p:txBody>
      </p:sp>
      <p:sp>
        <p:nvSpPr>
          <p:cNvPr id="11" name="Text 8"/>
          <p:cNvSpPr/>
          <p:nvPr/>
        </p:nvSpPr>
        <p:spPr>
          <a:xfrm>
            <a:off x="6355080" y="3017520"/>
            <a:ext cx="5349240" cy="2880360"/>
          </a:xfrm>
          <a:prstGeom prst="rect">
            <a:avLst/>
          </a:prstGeom>
          <a:noFill/>
          <a:ln/>
        </p:spPr>
        <p:txBody>
          <a:bodyPr wrap="square" rtlCol="0" anchor="t"/>
          <a:lstStyle/>
          <a:p>
            <a:pPr indent="0" marL="0">
              <a:lnSpc>
                <a:spcPts val="1900"/>
              </a:lnSpc>
              <a:buNone/>
            </a:pPr>
            <a:r>
              <a:rPr lang="en-US" sz="1350" dirty="0">
                <a:solidFill>
                  <a:srgbClr val="1B1F2A"/>
                </a:solidFill>
                <a:latin typeface="Calibri" pitchFamily="34" charset="0"/>
                <a:ea typeface="Calibri" pitchFamily="34" charset="-122"/>
                <a:cs typeface="Calibri" pitchFamily="34" charset="-120"/>
              </a:rPr>
              <a:t>Hour is ordered across a 24-hour cycle, so a line plot is best for tracing how the average fare moves through the day.</a:t>
            </a:r>
            <a:endParaRPr lang="en-US" sz="1350" dirty="0"/>
          </a:p>
          <a:p>
            <a:pPr indent="0" marL="0">
              <a:lnSpc>
                <a:spcPts val="1900"/>
              </a:lnSpc>
              <a:buNone/>
            </a:pPr>
            <a:endParaRPr lang="en-US" sz="1350" dirty="0"/>
          </a:p>
          <a:p>
            <a:pPr indent="0" marL="0">
              <a:lnSpc>
                <a:spcPts val="1900"/>
              </a:lnSpc>
              <a:buNone/>
            </a:pPr>
            <a:r>
              <a:rPr lang="en-US" sz="1350" dirty="0">
                <a:solidFill>
                  <a:srgbClr val="1B1F2A"/>
                </a:solidFill>
                <a:latin typeface="Calibri" pitchFamily="34" charset="0"/>
                <a:ea typeface="Calibri" pitchFamily="34" charset="-122"/>
                <a:cs typeface="Calibri" pitchFamily="34" charset="-120"/>
              </a:rPr>
              <a:t>The average climbs overnight and peaks near 5 AM, then falls to its lowest point around 8–9 AM ($10.5) before drifting up again. The overnight peak likely reflects fewer but longer late-night trips rather than surge pricing — worth flagging for Task 2, since it hints at a ride-count effect hiding inside the average.</a:t>
            </a:r>
            <a:endParaRPr lang="en-US" sz="1350" dirty="0"/>
          </a:p>
        </p:txBody>
      </p:sp>
      <p:sp>
        <p:nvSpPr>
          <p:cNvPr id="12" name="Text 9"/>
          <p:cNvSpPr/>
          <p:nvPr/>
        </p:nvSpPr>
        <p:spPr>
          <a:xfrm>
            <a:off x="11567160" y="6473952"/>
            <a:ext cx="457200" cy="274320"/>
          </a:xfrm>
          <a:prstGeom prst="rect">
            <a:avLst/>
          </a:prstGeom>
          <a:noFill/>
          <a:ln/>
        </p:spPr>
        <p:txBody>
          <a:bodyPr wrap="square" rtlCol="0" anchor="ctr"/>
          <a:lstStyle/>
          <a:p>
            <a:pPr algn="r" indent="0" marL="0">
              <a:buNone/>
            </a:pPr>
            <a:r>
              <a:rPr lang="en-US" sz="1000" dirty="0">
                <a:solidFill>
                  <a:srgbClr val="6B7086"/>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566928" cy="566928"/>
          </a:xfrm>
          <a:prstGeom prst="ellipse">
            <a:avLst/>
          </a:prstGeom>
          <a:solidFill>
            <a:srgbClr val="14172B"/>
          </a:solidFill>
          <a:ln/>
        </p:spPr>
      </p:sp>
      <p:sp>
        <p:nvSpPr>
          <p:cNvPr id="3" name="Text 1"/>
          <p:cNvSpPr/>
          <p:nvPr/>
        </p:nvSpPr>
        <p:spPr>
          <a:xfrm>
            <a:off x="457200" y="502920"/>
            <a:ext cx="566928" cy="566928"/>
          </a:xfrm>
          <a:prstGeom prst="rect">
            <a:avLst/>
          </a:prstGeom>
          <a:noFill/>
          <a:ln/>
        </p:spPr>
        <p:txBody>
          <a:bodyPr wrap="square" lIns="0" tIns="0" rIns="0" bIns="0" rtlCol="0" anchor="ctr"/>
          <a:lstStyle/>
          <a:p>
            <a:pPr algn="ctr" indent="0" marL="0">
              <a:buNone/>
            </a:pPr>
            <a:r>
              <a:rPr lang="en-US" sz="2108" b="1" dirty="0">
                <a:solidFill>
                  <a:srgbClr val="FFC300"/>
                </a:solidFill>
                <a:latin typeface="Cambria" pitchFamily="34" charset="0"/>
                <a:ea typeface="Cambria" pitchFamily="34" charset="-122"/>
                <a:cs typeface="Cambria" pitchFamily="34" charset="-120"/>
              </a:rPr>
              <a:t>Q4</a:t>
            </a:r>
            <a:endParaRPr lang="en-US" sz="2108" dirty="0"/>
          </a:p>
        </p:txBody>
      </p:sp>
      <p:sp>
        <p:nvSpPr>
          <p:cNvPr id="4" name="Text 2"/>
          <p:cNvSpPr/>
          <p:nvPr/>
        </p:nvSpPr>
        <p:spPr>
          <a:xfrm>
            <a:off x="1207008" y="457200"/>
            <a:ext cx="4892040" cy="777240"/>
          </a:xfrm>
          <a:prstGeom prst="rect">
            <a:avLst/>
          </a:prstGeom>
          <a:noFill/>
          <a:ln/>
        </p:spPr>
        <p:txBody>
          <a:bodyPr wrap="square" rtlCol="0" anchor="ctr"/>
          <a:lstStyle/>
          <a:p>
            <a:pPr indent="0" marL="0">
              <a:lnSpc>
                <a:spcPts val="2100"/>
              </a:lnSpc>
              <a:buNone/>
            </a:pPr>
            <a:r>
              <a:rPr lang="en-US" sz="1800" b="1" dirty="0">
                <a:solidFill>
                  <a:srgbClr val="1B1F2A"/>
                </a:solidFill>
                <a:latin typeface="Cambria" pitchFamily="34" charset="0"/>
                <a:ea typeface="Cambria" pitchFamily="34" charset="-122"/>
                <a:cs typeface="Cambria" pitchFamily="34" charset="-120"/>
              </a:rPr>
              <a:t>Does heavier traffic make a trip more expensive?</a:t>
            </a:r>
            <a:endParaRPr lang="en-US" sz="1800" dirty="0"/>
          </a:p>
        </p:txBody>
      </p:sp>
      <p:sp>
        <p:nvSpPr>
          <p:cNvPr id="5" name="Shape 3"/>
          <p:cNvSpPr/>
          <p:nvPr/>
        </p:nvSpPr>
        <p:spPr>
          <a:xfrm>
            <a:off x="6355080" y="1417320"/>
            <a:ext cx="5349240" cy="4892040"/>
          </a:xfrm>
          <a:prstGeom prst="roundRect">
            <a:avLst>
              <a:gd name="adj" fmla="val 1495"/>
            </a:avLst>
          </a:prstGeom>
          <a:solidFill>
            <a:srgbClr val="FFFFFF"/>
          </a:solidFill>
          <a:ln w="12700">
            <a:solidFill>
              <a:srgbClr val="DEDFE8"/>
            </a:solidFill>
            <a:prstDash val="solid"/>
          </a:ln>
          <a:effectLst>
            <a:outerShdw sx="100000" sy="100000" kx="0" ky="0" algn="bl" rotWithShape="0" blurRad="101600" dist="38100" dir="5400000">
              <a:srgbClr val="1B1F2A">
                <a:alpha val="18000"/>
              </a:srgbClr>
            </a:outerShdw>
          </a:effectLst>
        </p:spPr>
      </p:sp>
      <p:pic>
        <p:nvPicPr>
          <p:cNvPr id="6" name="Image 0" descr="/home/claude/imgs/q4_traffic_fare.png">    </p:cNvPr>
          <p:cNvPicPr>
            <a:picLocks noChangeAspect="1"/>
          </p:cNvPicPr>
          <p:nvPr/>
        </p:nvPicPr>
        <p:blipFill>
          <a:blip r:embed="rId1"/>
          <a:stretch>
            <a:fillRect/>
          </a:stretch>
        </p:blipFill>
        <p:spPr>
          <a:xfrm>
            <a:off x="6556248" y="2063509"/>
            <a:ext cx="4946904" cy="3599662"/>
          </a:xfrm>
          <a:prstGeom prst="rect">
            <a:avLst/>
          </a:prstGeom>
        </p:spPr>
      </p:pic>
      <p:sp>
        <p:nvSpPr>
          <p:cNvPr id="7" name="Shape 4"/>
          <p:cNvSpPr/>
          <p:nvPr/>
        </p:nvSpPr>
        <p:spPr>
          <a:xfrm>
            <a:off x="457200" y="1417320"/>
            <a:ext cx="5349240" cy="1051560"/>
          </a:xfrm>
          <a:prstGeom prst="roundRect">
            <a:avLst>
              <a:gd name="adj" fmla="val 6957"/>
            </a:avLst>
          </a:prstGeom>
          <a:solidFill>
            <a:srgbClr val="14172B"/>
          </a:solidFill>
          <a:ln/>
        </p:spPr>
      </p:sp>
      <p:sp>
        <p:nvSpPr>
          <p:cNvPr id="8" name="Text 5"/>
          <p:cNvSpPr/>
          <p:nvPr/>
        </p:nvSpPr>
        <p:spPr>
          <a:xfrm>
            <a:off x="685800" y="1508760"/>
            <a:ext cx="1920240" cy="868680"/>
          </a:xfrm>
          <a:prstGeom prst="rect">
            <a:avLst/>
          </a:prstGeom>
          <a:noFill/>
          <a:ln/>
        </p:spPr>
        <p:txBody>
          <a:bodyPr wrap="square" lIns="0" tIns="0" rIns="0" bIns="0" rtlCol="0" anchor="ctr"/>
          <a:lstStyle/>
          <a:p>
            <a:pPr indent="0" marL="0">
              <a:buNone/>
            </a:pPr>
            <a:r>
              <a:rPr lang="en-US" sz="3000" b="1" dirty="0">
                <a:solidFill>
                  <a:srgbClr val="FFC300"/>
                </a:solidFill>
                <a:latin typeface="Cambria" pitchFamily="34" charset="0"/>
                <a:ea typeface="Cambria" pitchFamily="34" charset="-122"/>
                <a:cs typeface="Cambria" pitchFamily="34" charset="-120"/>
              </a:rPr>
              <a:t>$0.08</a:t>
            </a:r>
            <a:endParaRPr lang="en-US" sz="3000" dirty="0"/>
          </a:p>
        </p:txBody>
      </p:sp>
      <p:sp>
        <p:nvSpPr>
          <p:cNvPr id="9" name="Text 6"/>
          <p:cNvSpPr/>
          <p:nvPr/>
        </p:nvSpPr>
        <p:spPr>
          <a:xfrm>
            <a:off x="2606040" y="1508760"/>
            <a:ext cx="3017520" cy="868680"/>
          </a:xfrm>
          <a:prstGeom prst="rect">
            <a:avLst/>
          </a:prstGeom>
          <a:noFill/>
          <a:ln/>
        </p:spPr>
        <p:txBody>
          <a:bodyPr wrap="square" lIns="0" tIns="0" rIns="0" bIns="0" rtlCol="0" anchor="ctr"/>
          <a:lstStyle/>
          <a:p>
            <a:pPr indent="0" marL="0">
              <a:lnSpc>
                <a:spcPts val="1500"/>
              </a:lnSpc>
              <a:buNone/>
            </a:pPr>
            <a:r>
              <a:rPr lang="en-US" sz="1250" dirty="0">
                <a:solidFill>
                  <a:srgbClr val="FFFFFF"/>
                </a:solidFill>
                <a:latin typeface="Calibri" pitchFamily="34" charset="0"/>
                <a:ea typeface="Calibri" pitchFamily="34" charset="-122"/>
                <a:cs typeface="Calibri" pitchFamily="34" charset="-120"/>
              </a:rPr>
              <a:t>gap in average fare between Congested and Flow traffic — negligible</a:t>
            </a:r>
            <a:endParaRPr lang="en-US" sz="1250" dirty="0"/>
          </a:p>
        </p:txBody>
      </p:sp>
      <p:sp>
        <p:nvSpPr>
          <p:cNvPr id="10" name="Text 7"/>
          <p:cNvSpPr/>
          <p:nvPr/>
        </p:nvSpPr>
        <p:spPr>
          <a:xfrm>
            <a:off x="457200" y="2697480"/>
            <a:ext cx="5349240" cy="320040"/>
          </a:xfrm>
          <a:prstGeom prst="rect">
            <a:avLst/>
          </a:prstGeom>
          <a:noFill/>
          <a:ln/>
        </p:spPr>
        <p:txBody>
          <a:bodyPr wrap="square" rtlCol="0" anchor="ctr"/>
          <a:lstStyle/>
          <a:p>
            <a:pPr indent="0" marL="0">
              <a:buNone/>
            </a:pPr>
            <a:r>
              <a:rPr lang="en-US" sz="1300" b="1" spc="100" kern="0" dirty="0">
                <a:solidFill>
                  <a:srgbClr val="14172B"/>
                </a:solidFill>
                <a:latin typeface="Calibri" pitchFamily="34" charset="0"/>
                <a:ea typeface="Calibri" pitchFamily="34" charset="-122"/>
                <a:cs typeface="Calibri" pitchFamily="34" charset="-120"/>
              </a:rPr>
              <a:t>WHY A BOXPLOT</a:t>
            </a:r>
            <a:endParaRPr lang="en-US" sz="1300" dirty="0"/>
          </a:p>
        </p:txBody>
      </p:sp>
      <p:sp>
        <p:nvSpPr>
          <p:cNvPr id="11" name="Text 8"/>
          <p:cNvSpPr/>
          <p:nvPr/>
        </p:nvSpPr>
        <p:spPr>
          <a:xfrm>
            <a:off x="457200" y="3017520"/>
            <a:ext cx="5349240" cy="2880360"/>
          </a:xfrm>
          <a:prstGeom prst="rect">
            <a:avLst/>
          </a:prstGeom>
          <a:noFill/>
          <a:ln/>
        </p:spPr>
        <p:txBody>
          <a:bodyPr wrap="square" rtlCol="0" anchor="t"/>
          <a:lstStyle/>
          <a:p>
            <a:pPr indent="0" marL="0">
              <a:lnSpc>
                <a:spcPts val="1900"/>
              </a:lnSpc>
              <a:buNone/>
            </a:pPr>
            <a:r>
              <a:rPr lang="en-US" sz="1350" dirty="0">
                <a:solidFill>
                  <a:srgbClr val="1B1F2A"/>
                </a:solidFill>
                <a:latin typeface="Calibri" pitchFamily="34" charset="0"/>
                <a:ea typeface="Calibri" pitchFamily="34" charset="-122"/>
                <a:cs typeface="Calibri" pitchFamily="34" charset="-120"/>
              </a:rPr>
              <a:t>Traffic_Conditions is categorical and fare is numeric, so a boxplot is used again to compare fare spread across traffic levels.</a:t>
            </a:r>
            <a:endParaRPr lang="en-US" sz="1350" dirty="0"/>
          </a:p>
          <a:p>
            <a:pPr indent="0" marL="0">
              <a:lnSpc>
                <a:spcPts val="1900"/>
              </a:lnSpc>
              <a:buNone/>
            </a:pPr>
            <a:endParaRPr lang="en-US" sz="1350" dirty="0"/>
          </a:p>
          <a:p>
            <a:pPr indent="0" marL="0">
              <a:lnSpc>
                <a:spcPts val="1900"/>
              </a:lnSpc>
              <a:buNone/>
            </a:pPr>
            <a:r>
              <a:rPr lang="en-US" sz="1350" dirty="0">
                <a:solidFill>
                  <a:srgbClr val="1B1F2A"/>
                </a:solidFill>
                <a:latin typeface="Calibri" pitchFamily="34" charset="0"/>
                <a:ea typeface="Calibri" pitchFamily="34" charset="-122"/>
                <a:cs typeface="Calibri" pitchFamily="34" charset="-120"/>
              </a:rPr>
              <a:t>Congested, Dense and Flow traffic average $11.31–$11.39, and every group shares the same $8.50 median. Fares in this dataset don't carry a time-in-traffic or surge component — a useful boundary to know before modeling.</a:t>
            </a:r>
            <a:endParaRPr lang="en-US" sz="1350" dirty="0"/>
          </a:p>
        </p:txBody>
      </p:sp>
      <p:sp>
        <p:nvSpPr>
          <p:cNvPr id="12" name="Text 9"/>
          <p:cNvSpPr/>
          <p:nvPr/>
        </p:nvSpPr>
        <p:spPr>
          <a:xfrm>
            <a:off x="11567160" y="6473952"/>
            <a:ext cx="457200" cy="274320"/>
          </a:xfrm>
          <a:prstGeom prst="rect">
            <a:avLst/>
          </a:prstGeom>
          <a:noFill/>
          <a:ln/>
        </p:spPr>
        <p:txBody>
          <a:bodyPr wrap="square" rtlCol="0" anchor="ctr"/>
          <a:lstStyle/>
          <a:p>
            <a:pPr algn="r" indent="0" marL="0">
              <a:buNone/>
            </a:pPr>
            <a:r>
              <a:rPr lang="en-US" sz="1000" dirty="0">
                <a:solidFill>
                  <a:srgbClr val="6B7086"/>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355080" y="502920"/>
            <a:ext cx="566928" cy="566928"/>
          </a:xfrm>
          <a:prstGeom prst="ellipse">
            <a:avLst/>
          </a:prstGeom>
          <a:solidFill>
            <a:srgbClr val="14172B"/>
          </a:solidFill>
          <a:ln/>
        </p:spPr>
      </p:sp>
      <p:sp>
        <p:nvSpPr>
          <p:cNvPr id="3" name="Text 1"/>
          <p:cNvSpPr/>
          <p:nvPr/>
        </p:nvSpPr>
        <p:spPr>
          <a:xfrm>
            <a:off x="6355080" y="502920"/>
            <a:ext cx="566928" cy="566928"/>
          </a:xfrm>
          <a:prstGeom prst="rect">
            <a:avLst/>
          </a:prstGeom>
          <a:noFill/>
          <a:ln/>
        </p:spPr>
        <p:txBody>
          <a:bodyPr wrap="square" lIns="0" tIns="0" rIns="0" bIns="0" rtlCol="0" anchor="ctr"/>
          <a:lstStyle/>
          <a:p>
            <a:pPr algn="ctr" indent="0" marL="0">
              <a:buNone/>
            </a:pPr>
            <a:r>
              <a:rPr lang="en-US" sz="2108" b="1" dirty="0">
                <a:solidFill>
                  <a:srgbClr val="FFC300"/>
                </a:solidFill>
                <a:latin typeface="Cambria" pitchFamily="34" charset="0"/>
                <a:ea typeface="Cambria" pitchFamily="34" charset="-122"/>
                <a:cs typeface="Cambria" pitchFamily="34" charset="-120"/>
              </a:rPr>
              <a:t>Q5</a:t>
            </a:r>
            <a:endParaRPr lang="en-US" sz="2108" dirty="0"/>
          </a:p>
        </p:txBody>
      </p:sp>
      <p:sp>
        <p:nvSpPr>
          <p:cNvPr id="4" name="Text 2"/>
          <p:cNvSpPr/>
          <p:nvPr/>
        </p:nvSpPr>
        <p:spPr>
          <a:xfrm>
            <a:off x="7104888" y="457200"/>
            <a:ext cx="4892040" cy="777240"/>
          </a:xfrm>
          <a:prstGeom prst="rect">
            <a:avLst/>
          </a:prstGeom>
          <a:noFill/>
          <a:ln/>
        </p:spPr>
        <p:txBody>
          <a:bodyPr wrap="square" rtlCol="0" anchor="ctr"/>
          <a:lstStyle/>
          <a:p>
            <a:pPr indent="0" marL="0">
              <a:lnSpc>
                <a:spcPts val="2100"/>
              </a:lnSpc>
              <a:buNone/>
            </a:pPr>
            <a:r>
              <a:rPr lang="en-US" sz="1800" b="1" dirty="0">
                <a:solidFill>
                  <a:srgbClr val="1B1F2A"/>
                </a:solidFill>
                <a:latin typeface="Cambria" pitchFamily="34" charset="0"/>
                <a:ea typeface="Cambria" pitchFamily="34" charset="-122"/>
                <a:cs typeface="Cambria" pitchFamily="34" charset="-120"/>
              </a:rPr>
              <a:t>Is trip distance the strongest predictor of fare?</a:t>
            </a:r>
            <a:endParaRPr lang="en-US" sz="1800" dirty="0"/>
          </a:p>
        </p:txBody>
      </p:sp>
      <p:sp>
        <p:nvSpPr>
          <p:cNvPr id="5" name="Shape 3"/>
          <p:cNvSpPr/>
          <p:nvPr/>
        </p:nvSpPr>
        <p:spPr>
          <a:xfrm>
            <a:off x="457200" y="1417320"/>
            <a:ext cx="5349240" cy="4892040"/>
          </a:xfrm>
          <a:prstGeom prst="roundRect">
            <a:avLst>
              <a:gd name="adj" fmla="val 1495"/>
            </a:avLst>
          </a:prstGeom>
          <a:solidFill>
            <a:srgbClr val="FFFFFF"/>
          </a:solidFill>
          <a:ln w="12700">
            <a:solidFill>
              <a:srgbClr val="DEDFE8"/>
            </a:solidFill>
            <a:prstDash val="solid"/>
          </a:ln>
          <a:effectLst>
            <a:outerShdw sx="100000" sy="100000" kx="0" ky="0" algn="bl" rotWithShape="0" blurRad="101600" dist="38100" dir="5400000">
              <a:srgbClr val="1B1F2A">
                <a:alpha val="18000"/>
              </a:srgbClr>
            </a:outerShdw>
          </a:effectLst>
        </p:spPr>
      </p:sp>
      <p:pic>
        <p:nvPicPr>
          <p:cNvPr id="6" name="Image 0" descr="/home/claude/imgs/q5_distance_fare.png">    </p:cNvPr>
          <p:cNvPicPr>
            <a:picLocks noChangeAspect="1"/>
          </p:cNvPicPr>
          <p:nvPr/>
        </p:nvPicPr>
        <p:blipFill>
          <a:blip r:embed="rId1"/>
          <a:stretch>
            <a:fillRect/>
          </a:stretch>
        </p:blipFill>
        <p:spPr>
          <a:xfrm>
            <a:off x="658368" y="2182796"/>
            <a:ext cx="4946904" cy="3361088"/>
          </a:xfrm>
          <a:prstGeom prst="rect">
            <a:avLst/>
          </a:prstGeom>
        </p:spPr>
      </p:pic>
      <p:sp>
        <p:nvSpPr>
          <p:cNvPr id="7" name="Shape 4"/>
          <p:cNvSpPr/>
          <p:nvPr/>
        </p:nvSpPr>
        <p:spPr>
          <a:xfrm>
            <a:off x="6355080" y="1417320"/>
            <a:ext cx="5349240" cy="1051560"/>
          </a:xfrm>
          <a:prstGeom prst="roundRect">
            <a:avLst>
              <a:gd name="adj" fmla="val 6957"/>
            </a:avLst>
          </a:prstGeom>
          <a:solidFill>
            <a:srgbClr val="14172B"/>
          </a:solidFill>
          <a:ln/>
        </p:spPr>
      </p:sp>
      <p:sp>
        <p:nvSpPr>
          <p:cNvPr id="8" name="Text 5"/>
          <p:cNvSpPr/>
          <p:nvPr/>
        </p:nvSpPr>
        <p:spPr>
          <a:xfrm>
            <a:off x="6583680" y="1508760"/>
            <a:ext cx="1920240" cy="868680"/>
          </a:xfrm>
          <a:prstGeom prst="rect">
            <a:avLst/>
          </a:prstGeom>
          <a:noFill/>
          <a:ln/>
        </p:spPr>
        <p:txBody>
          <a:bodyPr wrap="square" lIns="0" tIns="0" rIns="0" bIns="0" rtlCol="0" anchor="ctr"/>
          <a:lstStyle/>
          <a:p>
            <a:pPr indent="0" marL="0">
              <a:buNone/>
            </a:pPr>
            <a:r>
              <a:rPr lang="en-US" sz="3000" b="1" dirty="0">
                <a:solidFill>
                  <a:srgbClr val="FFC300"/>
                </a:solidFill>
                <a:latin typeface="Cambria" pitchFamily="34" charset="0"/>
                <a:ea typeface="Cambria" pitchFamily="34" charset="-122"/>
                <a:cs typeface="Cambria" pitchFamily="34" charset="-120"/>
              </a:rPr>
              <a:t>0.018</a:t>
            </a:r>
            <a:endParaRPr lang="en-US" sz="3000" dirty="0"/>
          </a:p>
        </p:txBody>
      </p:sp>
      <p:sp>
        <p:nvSpPr>
          <p:cNvPr id="9" name="Text 6"/>
          <p:cNvSpPr/>
          <p:nvPr/>
        </p:nvSpPr>
        <p:spPr>
          <a:xfrm>
            <a:off x="8503920" y="1508760"/>
            <a:ext cx="3017520" cy="868680"/>
          </a:xfrm>
          <a:prstGeom prst="rect">
            <a:avLst/>
          </a:prstGeom>
          <a:noFill/>
          <a:ln/>
        </p:spPr>
        <p:txBody>
          <a:bodyPr wrap="square" lIns="0" tIns="0" rIns="0" bIns="0" rtlCol="0" anchor="ctr"/>
          <a:lstStyle/>
          <a:p>
            <a:pPr indent="0" marL="0">
              <a:lnSpc>
                <a:spcPts val="1500"/>
              </a:lnSpc>
              <a:buNone/>
            </a:pPr>
            <a:r>
              <a:rPr lang="en-US" sz="1250" dirty="0">
                <a:solidFill>
                  <a:srgbClr val="FFFFFF"/>
                </a:solidFill>
                <a:latin typeface="Calibri" pitchFamily="34" charset="0"/>
                <a:ea typeface="Calibri" pitchFamily="34" charset="-122"/>
                <a:cs typeface="Calibri" pitchFamily="34" charset="-120"/>
              </a:rPr>
              <a:t>correlation between distance and fare — surprisingly weak, not strong</a:t>
            </a:r>
            <a:endParaRPr lang="en-US" sz="1250" dirty="0"/>
          </a:p>
        </p:txBody>
      </p:sp>
      <p:sp>
        <p:nvSpPr>
          <p:cNvPr id="10" name="Text 7"/>
          <p:cNvSpPr/>
          <p:nvPr/>
        </p:nvSpPr>
        <p:spPr>
          <a:xfrm>
            <a:off x="6355080" y="2697480"/>
            <a:ext cx="5349240" cy="320040"/>
          </a:xfrm>
          <a:prstGeom prst="rect">
            <a:avLst/>
          </a:prstGeom>
          <a:noFill/>
          <a:ln/>
        </p:spPr>
        <p:txBody>
          <a:bodyPr wrap="square" rtlCol="0" anchor="ctr"/>
          <a:lstStyle/>
          <a:p>
            <a:pPr indent="0" marL="0">
              <a:buNone/>
            </a:pPr>
            <a:r>
              <a:rPr lang="en-US" sz="1300" b="1" spc="100" kern="0" dirty="0">
                <a:solidFill>
                  <a:srgbClr val="14172B"/>
                </a:solidFill>
                <a:latin typeface="Calibri" pitchFamily="34" charset="0"/>
                <a:ea typeface="Calibri" pitchFamily="34" charset="-122"/>
                <a:cs typeface="Calibri" pitchFamily="34" charset="-120"/>
              </a:rPr>
              <a:t>WHY A SCATTER PLOT — AND WHY THIS RESULT MATTERS</a:t>
            </a:r>
            <a:endParaRPr lang="en-US" sz="1300" dirty="0"/>
          </a:p>
        </p:txBody>
      </p:sp>
      <p:sp>
        <p:nvSpPr>
          <p:cNvPr id="11" name="Text 8"/>
          <p:cNvSpPr/>
          <p:nvPr/>
        </p:nvSpPr>
        <p:spPr>
          <a:xfrm>
            <a:off x="6355080" y="3017520"/>
            <a:ext cx="5349240" cy="2880360"/>
          </a:xfrm>
          <a:prstGeom prst="rect">
            <a:avLst/>
          </a:prstGeom>
          <a:noFill/>
          <a:ln/>
        </p:spPr>
        <p:txBody>
          <a:bodyPr wrap="square" rtlCol="0" anchor="t"/>
          <a:lstStyle/>
          <a:p>
            <a:pPr indent="0" marL="0">
              <a:lnSpc>
                <a:spcPts val="1900"/>
              </a:lnSpc>
              <a:buNone/>
            </a:pPr>
            <a:r>
              <a:rPr lang="en-US" sz="1350" dirty="0">
                <a:solidFill>
                  <a:srgbClr val="1B1F2A"/>
                </a:solidFill>
                <a:latin typeface="Calibri" pitchFamily="34" charset="0"/>
                <a:ea typeface="Calibri" pitchFamily="34" charset="-122"/>
                <a:cs typeface="Calibri" pitchFamily="34" charset="-120"/>
              </a:rPr>
              <a:t>Distance and fare are both continuous, so a scatter plot is the natural check for a linear relationship.</a:t>
            </a:r>
            <a:endParaRPr lang="en-US" sz="1350" dirty="0"/>
          </a:p>
          <a:p>
            <a:pPr indent="0" marL="0">
              <a:lnSpc>
                <a:spcPts val="1900"/>
              </a:lnSpc>
              <a:buNone/>
            </a:pPr>
            <a:endParaRPr lang="en-US" sz="1350" dirty="0"/>
          </a:p>
          <a:p>
            <a:pPr indent="0" marL="0">
              <a:lnSpc>
                <a:spcPts val="1900"/>
              </a:lnSpc>
              <a:buNone/>
            </a:pPr>
            <a:r>
              <a:rPr lang="en-US" sz="1350" dirty="0">
                <a:solidFill>
                  <a:srgbClr val="1B1F2A"/>
                </a:solidFill>
                <a:latin typeface="Calibri" pitchFamily="34" charset="0"/>
                <a:ea typeface="Calibri" pitchFamily="34" charset="-122"/>
                <a:cs typeface="Calibri" pitchFamily="34" charset="-120"/>
              </a:rPr>
              <a:t>Intuition says distance should dominate fare, but the correlation is almost flat. The distance column ranges up to 8,670 km with a mean of 18 km against a 2.2 km median — a handful of extreme outliers are compressing the visible relationship. This is the single most important cleaning flag for Task 2: cap or remove distance outliers before distance can show its true predictive power.</a:t>
            </a:r>
            <a:endParaRPr lang="en-US" sz="1350" dirty="0"/>
          </a:p>
        </p:txBody>
      </p:sp>
      <p:sp>
        <p:nvSpPr>
          <p:cNvPr id="12" name="Text 9"/>
          <p:cNvSpPr/>
          <p:nvPr/>
        </p:nvSpPr>
        <p:spPr>
          <a:xfrm>
            <a:off x="11567160" y="6473952"/>
            <a:ext cx="457200" cy="274320"/>
          </a:xfrm>
          <a:prstGeom prst="rect">
            <a:avLst/>
          </a:prstGeom>
          <a:noFill/>
          <a:ln/>
        </p:spPr>
        <p:txBody>
          <a:bodyPr wrap="square" rtlCol="0" anchor="ctr"/>
          <a:lstStyle/>
          <a:p>
            <a:pPr algn="r" indent="0" marL="0">
              <a:buNone/>
            </a:pPr>
            <a:r>
              <a:rPr lang="en-US" sz="1000" dirty="0">
                <a:solidFill>
                  <a:srgbClr val="6B7086"/>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566928" cy="566928"/>
          </a:xfrm>
          <a:prstGeom prst="ellipse">
            <a:avLst/>
          </a:prstGeom>
          <a:solidFill>
            <a:srgbClr val="14172B"/>
          </a:solidFill>
          <a:ln/>
        </p:spPr>
      </p:sp>
      <p:sp>
        <p:nvSpPr>
          <p:cNvPr id="3" name="Text 1"/>
          <p:cNvSpPr/>
          <p:nvPr/>
        </p:nvSpPr>
        <p:spPr>
          <a:xfrm>
            <a:off x="457200" y="502920"/>
            <a:ext cx="566928" cy="566928"/>
          </a:xfrm>
          <a:prstGeom prst="rect">
            <a:avLst/>
          </a:prstGeom>
          <a:noFill/>
          <a:ln/>
        </p:spPr>
        <p:txBody>
          <a:bodyPr wrap="square" lIns="0" tIns="0" rIns="0" bIns="0" rtlCol="0" anchor="ctr"/>
          <a:lstStyle/>
          <a:p>
            <a:pPr algn="ctr" indent="0" marL="0">
              <a:buNone/>
            </a:pPr>
            <a:r>
              <a:rPr lang="en-US" sz="2108" b="1" dirty="0">
                <a:solidFill>
                  <a:srgbClr val="FFC300"/>
                </a:solidFill>
                <a:latin typeface="Cambria" pitchFamily="34" charset="0"/>
                <a:ea typeface="Cambria" pitchFamily="34" charset="-122"/>
                <a:cs typeface="Cambria" pitchFamily="34" charset="-120"/>
              </a:rPr>
              <a:t>Q6</a:t>
            </a:r>
            <a:endParaRPr lang="en-US" sz="2108" dirty="0"/>
          </a:p>
        </p:txBody>
      </p:sp>
      <p:sp>
        <p:nvSpPr>
          <p:cNvPr id="4" name="Text 2"/>
          <p:cNvSpPr/>
          <p:nvPr/>
        </p:nvSpPr>
        <p:spPr>
          <a:xfrm>
            <a:off x="1207008" y="457200"/>
            <a:ext cx="4892040" cy="777240"/>
          </a:xfrm>
          <a:prstGeom prst="rect">
            <a:avLst/>
          </a:prstGeom>
          <a:noFill/>
          <a:ln/>
        </p:spPr>
        <p:txBody>
          <a:bodyPr wrap="square" rtlCol="0" anchor="ctr"/>
          <a:lstStyle/>
          <a:p>
            <a:pPr indent="0" marL="0">
              <a:lnSpc>
                <a:spcPts val="2100"/>
              </a:lnSpc>
              <a:buNone/>
            </a:pPr>
            <a:r>
              <a:rPr lang="en-US" sz="1800" b="1" dirty="0">
                <a:solidFill>
                  <a:srgbClr val="1B1F2A"/>
                </a:solidFill>
                <a:latin typeface="Cambria" pitchFamily="34" charset="0"/>
                <a:ea typeface="Cambria" pitchFamily="34" charset="-122"/>
                <a:cs typeface="Cambria" pitchFamily="34" charset="-120"/>
              </a:rPr>
              <a:t>At what time of day are ride requests most frequent?</a:t>
            </a:r>
            <a:endParaRPr lang="en-US" sz="1800" dirty="0"/>
          </a:p>
        </p:txBody>
      </p:sp>
      <p:sp>
        <p:nvSpPr>
          <p:cNvPr id="5" name="Shape 3"/>
          <p:cNvSpPr/>
          <p:nvPr/>
        </p:nvSpPr>
        <p:spPr>
          <a:xfrm>
            <a:off x="6355080" y="1417320"/>
            <a:ext cx="5349240" cy="4892040"/>
          </a:xfrm>
          <a:prstGeom prst="roundRect">
            <a:avLst>
              <a:gd name="adj" fmla="val 1495"/>
            </a:avLst>
          </a:prstGeom>
          <a:solidFill>
            <a:srgbClr val="FFFFFF"/>
          </a:solidFill>
          <a:ln w="12700">
            <a:solidFill>
              <a:srgbClr val="DEDFE8"/>
            </a:solidFill>
            <a:prstDash val="solid"/>
          </a:ln>
          <a:effectLst>
            <a:outerShdw sx="100000" sy="100000" kx="0" ky="0" algn="bl" rotWithShape="0" blurRad="101600" dist="38100" dir="5400000">
              <a:srgbClr val="1B1F2A">
                <a:alpha val="18000"/>
              </a:srgbClr>
            </a:outerShdw>
          </a:effectLst>
        </p:spPr>
      </p:sp>
      <p:pic>
        <p:nvPicPr>
          <p:cNvPr id="6" name="Image 0" descr="/home/claude/imgs/q6_hour_demand.png">    </p:cNvPr>
          <p:cNvPicPr>
            <a:picLocks noChangeAspect="1"/>
          </p:cNvPicPr>
          <p:nvPr/>
        </p:nvPicPr>
        <p:blipFill>
          <a:blip r:embed="rId1"/>
          <a:stretch>
            <a:fillRect/>
          </a:stretch>
        </p:blipFill>
        <p:spPr>
          <a:xfrm>
            <a:off x="6556248" y="2707454"/>
            <a:ext cx="4946904" cy="2311773"/>
          </a:xfrm>
          <a:prstGeom prst="rect">
            <a:avLst/>
          </a:prstGeom>
        </p:spPr>
      </p:pic>
      <p:sp>
        <p:nvSpPr>
          <p:cNvPr id="7" name="Shape 4"/>
          <p:cNvSpPr/>
          <p:nvPr/>
        </p:nvSpPr>
        <p:spPr>
          <a:xfrm>
            <a:off x="457200" y="1417320"/>
            <a:ext cx="5349240" cy="1051560"/>
          </a:xfrm>
          <a:prstGeom prst="roundRect">
            <a:avLst>
              <a:gd name="adj" fmla="val 6957"/>
            </a:avLst>
          </a:prstGeom>
          <a:solidFill>
            <a:srgbClr val="14172B"/>
          </a:solidFill>
          <a:ln/>
        </p:spPr>
      </p:sp>
      <p:sp>
        <p:nvSpPr>
          <p:cNvPr id="8" name="Text 5"/>
          <p:cNvSpPr/>
          <p:nvPr/>
        </p:nvSpPr>
        <p:spPr>
          <a:xfrm>
            <a:off x="685800" y="1508760"/>
            <a:ext cx="1920240" cy="868680"/>
          </a:xfrm>
          <a:prstGeom prst="rect">
            <a:avLst/>
          </a:prstGeom>
          <a:noFill/>
          <a:ln/>
        </p:spPr>
        <p:txBody>
          <a:bodyPr wrap="square" lIns="0" tIns="0" rIns="0" bIns="0" rtlCol="0" anchor="ctr"/>
          <a:lstStyle/>
          <a:p>
            <a:pPr indent="0" marL="0">
              <a:buNone/>
            </a:pPr>
            <a:r>
              <a:rPr lang="en-US" sz="3000" b="1" dirty="0">
                <a:solidFill>
                  <a:srgbClr val="FFC300"/>
                </a:solidFill>
                <a:latin typeface="Cambria" pitchFamily="34" charset="0"/>
                <a:ea typeface="Cambria" pitchFamily="34" charset="-122"/>
                <a:cs typeface="Cambria" pitchFamily="34" charset="-120"/>
              </a:rPr>
              <a:t>7 PM</a:t>
            </a:r>
            <a:endParaRPr lang="en-US" sz="3000" dirty="0"/>
          </a:p>
        </p:txBody>
      </p:sp>
      <p:sp>
        <p:nvSpPr>
          <p:cNvPr id="9" name="Text 6"/>
          <p:cNvSpPr/>
          <p:nvPr/>
        </p:nvSpPr>
        <p:spPr>
          <a:xfrm>
            <a:off x="2606040" y="1508760"/>
            <a:ext cx="3017520" cy="868680"/>
          </a:xfrm>
          <a:prstGeom prst="rect">
            <a:avLst/>
          </a:prstGeom>
          <a:noFill/>
          <a:ln/>
        </p:spPr>
        <p:txBody>
          <a:bodyPr wrap="square" lIns="0" tIns="0" rIns="0" bIns="0" rtlCol="0" anchor="ctr"/>
          <a:lstStyle/>
          <a:p>
            <a:pPr indent="0" marL="0">
              <a:lnSpc>
                <a:spcPts val="1500"/>
              </a:lnSpc>
              <a:buNone/>
            </a:pPr>
            <a:r>
              <a:rPr lang="en-US" sz="1250" dirty="0">
                <a:solidFill>
                  <a:srgbClr val="FFFFFF"/>
                </a:solidFill>
                <a:latin typeface="Calibri" pitchFamily="34" charset="0"/>
                <a:ea typeface="Calibri" pitchFamily="34" charset="-122"/>
                <a:cs typeface="Calibri" pitchFamily="34" charset="-120"/>
              </a:rPr>
              <a:t>busiest hour — 3,532 requests, over 6× the 5 AM low of 559</a:t>
            </a:r>
            <a:endParaRPr lang="en-US" sz="1250" dirty="0"/>
          </a:p>
        </p:txBody>
      </p:sp>
      <p:sp>
        <p:nvSpPr>
          <p:cNvPr id="10" name="Text 7"/>
          <p:cNvSpPr/>
          <p:nvPr/>
        </p:nvSpPr>
        <p:spPr>
          <a:xfrm>
            <a:off x="457200" y="2697480"/>
            <a:ext cx="5349240" cy="320040"/>
          </a:xfrm>
          <a:prstGeom prst="rect">
            <a:avLst/>
          </a:prstGeom>
          <a:noFill/>
          <a:ln/>
        </p:spPr>
        <p:txBody>
          <a:bodyPr wrap="square" rtlCol="0" anchor="ctr"/>
          <a:lstStyle/>
          <a:p>
            <a:pPr indent="0" marL="0">
              <a:buNone/>
            </a:pPr>
            <a:r>
              <a:rPr lang="en-US" sz="1300" b="1" spc="100" kern="0" dirty="0">
                <a:solidFill>
                  <a:srgbClr val="14172B"/>
                </a:solidFill>
                <a:latin typeface="Calibri" pitchFamily="34" charset="0"/>
                <a:ea typeface="Calibri" pitchFamily="34" charset="-122"/>
                <a:cs typeface="Calibri" pitchFamily="34" charset="-120"/>
              </a:rPr>
              <a:t>WHY A COUNT PLOT</a:t>
            </a:r>
            <a:endParaRPr lang="en-US" sz="1300" dirty="0"/>
          </a:p>
        </p:txBody>
      </p:sp>
      <p:sp>
        <p:nvSpPr>
          <p:cNvPr id="11" name="Text 8"/>
          <p:cNvSpPr/>
          <p:nvPr/>
        </p:nvSpPr>
        <p:spPr>
          <a:xfrm>
            <a:off x="457200" y="3017520"/>
            <a:ext cx="5349240" cy="2880360"/>
          </a:xfrm>
          <a:prstGeom prst="rect">
            <a:avLst/>
          </a:prstGeom>
          <a:noFill/>
          <a:ln/>
        </p:spPr>
        <p:txBody>
          <a:bodyPr wrap="square" rtlCol="0" anchor="t"/>
          <a:lstStyle/>
          <a:p>
            <a:pPr indent="0" marL="0">
              <a:lnSpc>
                <a:spcPts val="1900"/>
              </a:lnSpc>
              <a:buNone/>
            </a:pPr>
            <a:r>
              <a:rPr lang="en-US" sz="1350" dirty="0">
                <a:solidFill>
                  <a:srgbClr val="1B1F2A"/>
                </a:solidFill>
                <a:latin typeface="Calibri" pitchFamily="34" charset="0"/>
                <a:ea typeface="Calibri" pitchFamily="34" charset="-122"/>
                <a:cs typeface="Calibri" pitchFamily="34" charset="-120"/>
              </a:rPr>
              <a:t>This question asks about volume, not price, so a count plot of ride frequency per hour is the right tool — a line plot of averages would hide it.</a:t>
            </a:r>
            <a:endParaRPr lang="en-US" sz="1350" dirty="0"/>
          </a:p>
          <a:p>
            <a:pPr indent="0" marL="0">
              <a:lnSpc>
                <a:spcPts val="1900"/>
              </a:lnSpc>
              <a:buNone/>
            </a:pPr>
            <a:endParaRPr lang="en-US" sz="1350" dirty="0"/>
          </a:p>
          <a:p>
            <a:pPr indent="0" marL="0">
              <a:lnSpc>
                <a:spcPts val="1900"/>
              </a:lnSpc>
              <a:buNone/>
            </a:pPr>
            <a:r>
              <a:rPr lang="en-US" sz="1350" dirty="0">
                <a:solidFill>
                  <a:srgbClr val="1B1F2A"/>
                </a:solidFill>
                <a:latin typeface="Calibri" pitchFamily="34" charset="0"/>
                <a:ea typeface="Calibri" pitchFamily="34" charset="-122"/>
                <a:cs typeface="Calibri" pitchFamily="34" charset="-120"/>
              </a:rPr>
              <a:t>Demand climbs steadily through the day to an early-evening peak around 7 PM, the classic commute pattern, and bottoms out overnight. Read together with Q3, evening rush delivers the most rides but not the highest average fare — volume and price peak at different times.</a:t>
            </a:r>
            <a:endParaRPr lang="en-US" sz="1350" dirty="0"/>
          </a:p>
        </p:txBody>
      </p:sp>
      <p:sp>
        <p:nvSpPr>
          <p:cNvPr id="12" name="Text 9"/>
          <p:cNvSpPr/>
          <p:nvPr/>
        </p:nvSpPr>
        <p:spPr>
          <a:xfrm>
            <a:off x="11567160" y="6473952"/>
            <a:ext cx="457200" cy="274320"/>
          </a:xfrm>
          <a:prstGeom prst="rect">
            <a:avLst/>
          </a:prstGeom>
          <a:noFill/>
          <a:ln/>
        </p:spPr>
        <p:txBody>
          <a:bodyPr wrap="square" rtlCol="0" anchor="ctr"/>
          <a:lstStyle/>
          <a:p>
            <a:pPr algn="r" indent="0" marL="0">
              <a:buNone/>
            </a:pPr>
            <a:r>
              <a:rPr lang="en-US" sz="1000" dirty="0">
                <a:solidFill>
                  <a:srgbClr val="6B7086"/>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355080" y="502920"/>
            <a:ext cx="566928" cy="566928"/>
          </a:xfrm>
          <a:prstGeom prst="ellipse">
            <a:avLst/>
          </a:prstGeom>
          <a:solidFill>
            <a:srgbClr val="14172B"/>
          </a:solidFill>
          <a:ln/>
        </p:spPr>
      </p:sp>
      <p:sp>
        <p:nvSpPr>
          <p:cNvPr id="3" name="Text 1"/>
          <p:cNvSpPr/>
          <p:nvPr/>
        </p:nvSpPr>
        <p:spPr>
          <a:xfrm>
            <a:off x="6355080" y="502920"/>
            <a:ext cx="566928" cy="566928"/>
          </a:xfrm>
          <a:prstGeom prst="rect">
            <a:avLst/>
          </a:prstGeom>
          <a:noFill/>
          <a:ln/>
        </p:spPr>
        <p:txBody>
          <a:bodyPr wrap="square" lIns="0" tIns="0" rIns="0" bIns="0" rtlCol="0" anchor="ctr"/>
          <a:lstStyle/>
          <a:p>
            <a:pPr algn="ctr" indent="0" marL="0">
              <a:buNone/>
            </a:pPr>
            <a:r>
              <a:rPr lang="en-US" sz="2108" b="1" dirty="0">
                <a:solidFill>
                  <a:srgbClr val="FFC300"/>
                </a:solidFill>
                <a:latin typeface="Cambria" pitchFamily="34" charset="0"/>
                <a:ea typeface="Cambria" pitchFamily="34" charset="-122"/>
                <a:cs typeface="Cambria" pitchFamily="34" charset="-120"/>
              </a:rPr>
              <a:t>Q7</a:t>
            </a:r>
            <a:endParaRPr lang="en-US" sz="2108" dirty="0"/>
          </a:p>
        </p:txBody>
      </p:sp>
      <p:sp>
        <p:nvSpPr>
          <p:cNvPr id="4" name="Text 2"/>
          <p:cNvSpPr/>
          <p:nvPr/>
        </p:nvSpPr>
        <p:spPr>
          <a:xfrm>
            <a:off x="7104888" y="457200"/>
            <a:ext cx="4892040" cy="777240"/>
          </a:xfrm>
          <a:prstGeom prst="rect">
            <a:avLst/>
          </a:prstGeom>
          <a:noFill/>
          <a:ln/>
        </p:spPr>
        <p:txBody>
          <a:bodyPr wrap="square" rtlCol="0" anchor="ctr"/>
          <a:lstStyle/>
          <a:p>
            <a:pPr indent="0" marL="0">
              <a:lnSpc>
                <a:spcPts val="2100"/>
              </a:lnSpc>
              <a:buNone/>
            </a:pPr>
            <a:r>
              <a:rPr lang="en-US" sz="1800" b="1" dirty="0">
                <a:solidFill>
                  <a:srgbClr val="1B1F2A"/>
                </a:solidFill>
                <a:latin typeface="Cambria" pitchFamily="34" charset="0"/>
                <a:ea typeface="Cambria" pitchFamily="34" charset="-122"/>
                <a:cs typeface="Cambria" pitchFamily="34" charset="-120"/>
              </a:rPr>
              <a:t>Does weather change how far people ride?</a:t>
            </a:r>
            <a:endParaRPr lang="en-US" sz="1800" dirty="0"/>
          </a:p>
        </p:txBody>
      </p:sp>
      <p:sp>
        <p:nvSpPr>
          <p:cNvPr id="5" name="Shape 3"/>
          <p:cNvSpPr/>
          <p:nvPr/>
        </p:nvSpPr>
        <p:spPr>
          <a:xfrm>
            <a:off x="457200" y="1417320"/>
            <a:ext cx="5349240" cy="4892040"/>
          </a:xfrm>
          <a:prstGeom prst="roundRect">
            <a:avLst>
              <a:gd name="adj" fmla="val 1495"/>
            </a:avLst>
          </a:prstGeom>
          <a:solidFill>
            <a:srgbClr val="FFFFFF"/>
          </a:solidFill>
          <a:ln w="12700">
            <a:solidFill>
              <a:srgbClr val="DEDFE8"/>
            </a:solidFill>
            <a:prstDash val="solid"/>
          </a:ln>
          <a:effectLst>
            <a:outerShdw sx="100000" sy="100000" kx="0" ky="0" algn="bl" rotWithShape="0" blurRad="101600" dist="38100" dir="5400000">
              <a:srgbClr val="1B1F2A">
                <a:alpha val="18000"/>
              </a:srgbClr>
            </a:outerShdw>
          </a:effectLst>
        </p:spPr>
      </p:sp>
      <p:pic>
        <p:nvPicPr>
          <p:cNvPr id="6" name="Image 0" descr="/home/claude/imgs/q7_weather_distance.png">    </p:cNvPr>
          <p:cNvPicPr>
            <a:picLocks noChangeAspect="1"/>
          </p:cNvPicPr>
          <p:nvPr/>
        </p:nvPicPr>
        <p:blipFill>
          <a:blip r:embed="rId1"/>
          <a:stretch>
            <a:fillRect/>
          </a:stretch>
        </p:blipFill>
        <p:spPr>
          <a:xfrm>
            <a:off x="658368" y="2080081"/>
            <a:ext cx="4946904" cy="3566518"/>
          </a:xfrm>
          <a:prstGeom prst="rect">
            <a:avLst/>
          </a:prstGeom>
        </p:spPr>
      </p:pic>
      <p:sp>
        <p:nvSpPr>
          <p:cNvPr id="7" name="Shape 4"/>
          <p:cNvSpPr/>
          <p:nvPr/>
        </p:nvSpPr>
        <p:spPr>
          <a:xfrm>
            <a:off x="6355080" y="1417320"/>
            <a:ext cx="5349240" cy="1051560"/>
          </a:xfrm>
          <a:prstGeom prst="roundRect">
            <a:avLst>
              <a:gd name="adj" fmla="val 6957"/>
            </a:avLst>
          </a:prstGeom>
          <a:solidFill>
            <a:srgbClr val="14172B"/>
          </a:solidFill>
          <a:ln/>
        </p:spPr>
      </p:sp>
      <p:sp>
        <p:nvSpPr>
          <p:cNvPr id="8" name="Text 5"/>
          <p:cNvSpPr/>
          <p:nvPr/>
        </p:nvSpPr>
        <p:spPr>
          <a:xfrm>
            <a:off x="6583680" y="1508760"/>
            <a:ext cx="1920240" cy="868680"/>
          </a:xfrm>
          <a:prstGeom prst="rect">
            <a:avLst/>
          </a:prstGeom>
          <a:noFill/>
          <a:ln/>
        </p:spPr>
        <p:txBody>
          <a:bodyPr wrap="square" lIns="0" tIns="0" rIns="0" bIns="0" rtlCol="0" anchor="ctr"/>
          <a:lstStyle/>
          <a:p>
            <a:pPr indent="0" marL="0">
              <a:buNone/>
            </a:pPr>
            <a:r>
              <a:rPr lang="en-US" sz="3000" b="1" dirty="0">
                <a:solidFill>
                  <a:srgbClr val="FFC300"/>
                </a:solidFill>
                <a:latin typeface="Cambria" pitchFamily="34" charset="0"/>
                <a:ea typeface="Cambria" pitchFamily="34" charset="-122"/>
                <a:cs typeface="Cambria" pitchFamily="34" charset="-120"/>
              </a:rPr>
              <a:t>2.15–2.23</a:t>
            </a:r>
            <a:endParaRPr lang="en-US" sz="3000" dirty="0"/>
          </a:p>
        </p:txBody>
      </p:sp>
      <p:sp>
        <p:nvSpPr>
          <p:cNvPr id="9" name="Text 6"/>
          <p:cNvSpPr/>
          <p:nvPr/>
        </p:nvSpPr>
        <p:spPr>
          <a:xfrm>
            <a:off x="8503920" y="1508760"/>
            <a:ext cx="3017520" cy="868680"/>
          </a:xfrm>
          <a:prstGeom prst="rect">
            <a:avLst/>
          </a:prstGeom>
          <a:noFill/>
          <a:ln/>
        </p:spPr>
        <p:txBody>
          <a:bodyPr wrap="square" lIns="0" tIns="0" rIns="0" bIns="0" rtlCol="0" anchor="ctr"/>
          <a:lstStyle/>
          <a:p>
            <a:pPr indent="0" marL="0">
              <a:lnSpc>
                <a:spcPts val="1500"/>
              </a:lnSpc>
              <a:buNone/>
            </a:pPr>
            <a:r>
              <a:rPr lang="en-US" sz="1250" dirty="0">
                <a:solidFill>
                  <a:srgbClr val="FFFFFF"/>
                </a:solidFill>
                <a:latin typeface="Calibri" pitchFamily="34" charset="0"/>
                <a:ea typeface="Calibri" pitchFamily="34" charset="-122"/>
                <a:cs typeface="Calibri" pitchFamily="34" charset="-120"/>
              </a:rPr>
              <a:t>km median trip distance — nearly identical across every weather type</a:t>
            </a:r>
            <a:endParaRPr lang="en-US" sz="1250" dirty="0"/>
          </a:p>
        </p:txBody>
      </p:sp>
      <p:sp>
        <p:nvSpPr>
          <p:cNvPr id="10" name="Text 7"/>
          <p:cNvSpPr/>
          <p:nvPr/>
        </p:nvSpPr>
        <p:spPr>
          <a:xfrm>
            <a:off x="6355080" y="2697480"/>
            <a:ext cx="5349240" cy="320040"/>
          </a:xfrm>
          <a:prstGeom prst="rect">
            <a:avLst/>
          </a:prstGeom>
          <a:noFill/>
          <a:ln/>
        </p:spPr>
        <p:txBody>
          <a:bodyPr wrap="square" rtlCol="0" anchor="ctr"/>
          <a:lstStyle/>
          <a:p>
            <a:pPr indent="0" marL="0">
              <a:buNone/>
            </a:pPr>
            <a:r>
              <a:rPr lang="en-US" sz="1300" b="1" spc="100" kern="0" dirty="0">
                <a:solidFill>
                  <a:srgbClr val="14172B"/>
                </a:solidFill>
                <a:latin typeface="Calibri" pitchFamily="34" charset="0"/>
                <a:ea typeface="Calibri" pitchFamily="34" charset="-122"/>
                <a:cs typeface="Calibri" pitchFamily="34" charset="-120"/>
              </a:rPr>
              <a:t>WHY A BOXPLOT</a:t>
            </a:r>
            <a:endParaRPr lang="en-US" sz="1300" dirty="0"/>
          </a:p>
        </p:txBody>
      </p:sp>
      <p:sp>
        <p:nvSpPr>
          <p:cNvPr id="11" name="Text 8"/>
          <p:cNvSpPr/>
          <p:nvPr/>
        </p:nvSpPr>
        <p:spPr>
          <a:xfrm>
            <a:off x="6355080" y="3017520"/>
            <a:ext cx="5349240" cy="2880360"/>
          </a:xfrm>
          <a:prstGeom prst="rect">
            <a:avLst/>
          </a:prstGeom>
          <a:noFill/>
          <a:ln/>
        </p:spPr>
        <p:txBody>
          <a:bodyPr wrap="square" rtlCol="0" anchor="t"/>
          <a:lstStyle/>
          <a:p>
            <a:pPr indent="0" marL="0">
              <a:lnSpc>
                <a:spcPts val="1900"/>
              </a:lnSpc>
              <a:buNone/>
            </a:pPr>
            <a:r>
              <a:rPr lang="en-US" sz="1350" dirty="0">
                <a:solidFill>
                  <a:srgbClr val="1B1F2A"/>
                </a:solidFill>
                <a:latin typeface="Calibri" pitchFamily="34" charset="0"/>
                <a:ea typeface="Calibri" pitchFamily="34" charset="-122"/>
                <a:cs typeface="Calibri" pitchFamily="34" charset="-120"/>
              </a:rPr>
              <a:t>Weather is categorical and distance is numeric, so a boxplot compares distance distributions across conditions.</a:t>
            </a:r>
            <a:endParaRPr lang="en-US" sz="1350" dirty="0"/>
          </a:p>
          <a:p>
            <a:pPr indent="0" marL="0">
              <a:lnSpc>
                <a:spcPts val="1900"/>
              </a:lnSpc>
              <a:buNone/>
            </a:pPr>
            <a:endParaRPr lang="en-US" sz="1350" dirty="0"/>
          </a:p>
          <a:p>
            <a:pPr indent="0" marL="0">
              <a:lnSpc>
                <a:spcPts val="1900"/>
              </a:lnSpc>
              <a:buNone/>
            </a:pPr>
            <a:r>
              <a:rPr lang="en-US" sz="1350" dirty="0">
                <a:solidFill>
                  <a:srgbClr val="1B1F2A"/>
                </a:solidFill>
                <a:latin typeface="Calibri" pitchFamily="34" charset="0"/>
                <a:ea typeface="Calibri" pitchFamily="34" charset="-122"/>
                <a:cs typeface="Calibri" pitchFamily="34" charset="-120"/>
              </a:rPr>
              <a:t>Mean distance swings widely (cloudy 22.8 km vs. stormy 12.0 km), but the medians barely move and the standard deviations are enormous (267–400 km). That combination is the signature of outliers dragging the mean, not a genuine weather effect — the boxplot's outlier view catches what a bar chart of averages would have overstated.</a:t>
            </a:r>
            <a:endParaRPr lang="en-US" sz="1350" dirty="0"/>
          </a:p>
        </p:txBody>
      </p:sp>
      <p:sp>
        <p:nvSpPr>
          <p:cNvPr id="12" name="Text 9"/>
          <p:cNvSpPr/>
          <p:nvPr/>
        </p:nvSpPr>
        <p:spPr>
          <a:xfrm>
            <a:off x="11567160" y="6473952"/>
            <a:ext cx="457200" cy="274320"/>
          </a:xfrm>
          <a:prstGeom prst="rect">
            <a:avLst/>
          </a:prstGeom>
          <a:noFill/>
          <a:ln/>
        </p:spPr>
        <p:txBody>
          <a:bodyPr wrap="square" rtlCol="0" anchor="ctr"/>
          <a:lstStyle/>
          <a:p>
            <a:pPr algn="r" indent="0" marL="0">
              <a:buNone/>
            </a:pPr>
            <a:r>
              <a:rPr lang="en-US" sz="1000" dirty="0">
                <a:solidFill>
                  <a:srgbClr val="6B7086"/>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502920"/>
            <a:ext cx="566928" cy="566928"/>
          </a:xfrm>
          <a:prstGeom prst="ellipse">
            <a:avLst/>
          </a:prstGeom>
          <a:solidFill>
            <a:srgbClr val="14172B"/>
          </a:solidFill>
          <a:ln/>
        </p:spPr>
      </p:sp>
      <p:sp>
        <p:nvSpPr>
          <p:cNvPr id="3" name="Text 1"/>
          <p:cNvSpPr/>
          <p:nvPr/>
        </p:nvSpPr>
        <p:spPr>
          <a:xfrm>
            <a:off x="457200" y="502920"/>
            <a:ext cx="566928" cy="566928"/>
          </a:xfrm>
          <a:prstGeom prst="rect">
            <a:avLst/>
          </a:prstGeom>
          <a:noFill/>
          <a:ln/>
        </p:spPr>
        <p:txBody>
          <a:bodyPr wrap="square" lIns="0" tIns="0" rIns="0" bIns="0" rtlCol="0" anchor="ctr"/>
          <a:lstStyle/>
          <a:p>
            <a:pPr algn="ctr" indent="0" marL="0">
              <a:buNone/>
            </a:pPr>
            <a:r>
              <a:rPr lang="en-US" sz="2108" b="1" dirty="0">
                <a:solidFill>
                  <a:srgbClr val="FFC300"/>
                </a:solidFill>
                <a:latin typeface="Cambria" pitchFamily="34" charset="0"/>
                <a:ea typeface="Cambria" pitchFamily="34" charset="-122"/>
                <a:cs typeface="Cambria" pitchFamily="34" charset="-120"/>
              </a:rPr>
              <a:t>Q8</a:t>
            </a:r>
            <a:endParaRPr lang="en-US" sz="2108" dirty="0"/>
          </a:p>
        </p:txBody>
      </p:sp>
      <p:sp>
        <p:nvSpPr>
          <p:cNvPr id="4" name="Text 2"/>
          <p:cNvSpPr/>
          <p:nvPr/>
        </p:nvSpPr>
        <p:spPr>
          <a:xfrm>
            <a:off x="1207008" y="457200"/>
            <a:ext cx="4892040" cy="777240"/>
          </a:xfrm>
          <a:prstGeom prst="rect">
            <a:avLst/>
          </a:prstGeom>
          <a:noFill/>
          <a:ln/>
        </p:spPr>
        <p:txBody>
          <a:bodyPr wrap="square" rtlCol="0" anchor="ctr"/>
          <a:lstStyle/>
          <a:p>
            <a:pPr indent="0" marL="0">
              <a:lnSpc>
                <a:spcPts val="2100"/>
              </a:lnSpc>
              <a:buNone/>
            </a:pPr>
            <a:r>
              <a:rPr lang="en-US" sz="1800" b="1" dirty="0">
                <a:solidFill>
                  <a:srgbClr val="1B1F2A"/>
                </a:solidFill>
                <a:latin typeface="Cambria" pitchFamily="34" charset="0"/>
                <a:ea typeface="Cambria" pitchFamily="34" charset="-122"/>
                <a:cs typeface="Cambria" pitchFamily="34" charset="-120"/>
              </a:rPr>
              <a:t>Are rides starting near an airport more expensive?</a:t>
            </a:r>
            <a:endParaRPr lang="en-US" sz="1800" dirty="0"/>
          </a:p>
        </p:txBody>
      </p:sp>
      <p:sp>
        <p:nvSpPr>
          <p:cNvPr id="5" name="Shape 3"/>
          <p:cNvSpPr/>
          <p:nvPr/>
        </p:nvSpPr>
        <p:spPr>
          <a:xfrm>
            <a:off x="6355080" y="1417320"/>
            <a:ext cx="5349240" cy="4892040"/>
          </a:xfrm>
          <a:prstGeom prst="roundRect">
            <a:avLst>
              <a:gd name="adj" fmla="val 1495"/>
            </a:avLst>
          </a:prstGeom>
          <a:solidFill>
            <a:srgbClr val="FFFFFF"/>
          </a:solidFill>
          <a:ln w="12700">
            <a:solidFill>
              <a:srgbClr val="DEDFE8"/>
            </a:solidFill>
            <a:prstDash val="solid"/>
          </a:ln>
          <a:effectLst>
            <a:outerShdw sx="100000" sy="100000" kx="0" ky="0" algn="bl" rotWithShape="0" blurRad="101600" dist="38100" dir="5400000">
              <a:srgbClr val="1B1F2A">
                <a:alpha val="18000"/>
              </a:srgbClr>
            </a:outerShdw>
          </a:effectLst>
        </p:spPr>
      </p:sp>
      <p:pic>
        <p:nvPicPr>
          <p:cNvPr id="6" name="Image 0" descr="/home/claude/imgs/q8_jfk_fare.png">    </p:cNvPr>
          <p:cNvPicPr>
            <a:picLocks noChangeAspect="1"/>
          </p:cNvPicPr>
          <p:nvPr/>
        </p:nvPicPr>
        <p:blipFill>
          <a:blip r:embed="rId1"/>
          <a:stretch>
            <a:fillRect/>
          </a:stretch>
        </p:blipFill>
        <p:spPr>
          <a:xfrm>
            <a:off x="6556248" y="2182796"/>
            <a:ext cx="4946904" cy="3361088"/>
          </a:xfrm>
          <a:prstGeom prst="rect">
            <a:avLst/>
          </a:prstGeom>
        </p:spPr>
      </p:pic>
      <p:sp>
        <p:nvSpPr>
          <p:cNvPr id="7" name="Shape 4"/>
          <p:cNvSpPr/>
          <p:nvPr/>
        </p:nvSpPr>
        <p:spPr>
          <a:xfrm>
            <a:off x="457200" y="1417320"/>
            <a:ext cx="5349240" cy="1051560"/>
          </a:xfrm>
          <a:prstGeom prst="roundRect">
            <a:avLst>
              <a:gd name="adj" fmla="val 6957"/>
            </a:avLst>
          </a:prstGeom>
          <a:solidFill>
            <a:srgbClr val="14172B"/>
          </a:solidFill>
          <a:ln/>
        </p:spPr>
      </p:sp>
      <p:sp>
        <p:nvSpPr>
          <p:cNvPr id="8" name="Text 5"/>
          <p:cNvSpPr/>
          <p:nvPr/>
        </p:nvSpPr>
        <p:spPr>
          <a:xfrm>
            <a:off x="685800" y="1508760"/>
            <a:ext cx="1920240" cy="868680"/>
          </a:xfrm>
          <a:prstGeom prst="rect">
            <a:avLst/>
          </a:prstGeom>
          <a:noFill/>
          <a:ln/>
        </p:spPr>
        <p:txBody>
          <a:bodyPr wrap="square" lIns="0" tIns="0" rIns="0" bIns="0" rtlCol="0" anchor="ctr"/>
          <a:lstStyle/>
          <a:p>
            <a:pPr indent="0" marL="0">
              <a:buNone/>
            </a:pPr>
            <a:r>
              <a:rPr lang="en-US" sz="3000" b="1" dirty="0">
                <a:solidFill>
                  <a:srgbClr val="FFC300"/>
                </a:solidFill>
                <a:latin typeface="Cambria" pitchFamily="34" charset="0"/>
                <a:ea typeface="Cambria" pitchFamily="34" charset="-122"/>
                <a:cs typeface="Cambria" pitchFamily="34" charset="-120"/>
              </a:rPr>
              <a:t>0.008</a:t>
            </a:r>
            <a:endParaRPr lang="en-US" sz="3000" dirty="0"/>
          </a:p>
        </p:txBody>
      </p:sp>
      <p:sp>
        <p:nvSpPr>
          <p:cNvPr id="9" name="Text 6"/>
          <p:cNvSpPr/>
          <p:nvPr/>
        </p:nvSpPr>
        <p:spPr>
          <a:xfrm>
            <a:off x="2606040" y="1508760"/>
            <a:ext cx="3017520" cy="868680"/>
          </a:xfrm>
          <a:prstGeom prst="rect">
            <a:avLst/>
          </a:prstGeom>
          <a:noFill/>
          <a:ln/>
        </p:spPr>
        <p:txBody>
          <a:bodyPr wrap="square" lIns="0" tIns="0" rIns="0" bIns="0" rtlCol="0" anchor="ctr"/>
          <a:lstStyle/>
          <a:p>
            <a:pPr indent="0" marL="0">
              <a:lnSpc>
                <a:spcPts val="1500"/>
              </a:lnSpc>
              <a:buNone/>
            </a:pPr>
            <a:r>
              <a:rPr lang="en-US" sz="1250" dirty="0">
                <a:solidFill>
                  <a:srgbClr val="FFFFFF"/>
                </a:solidFill>
                <a:latin typeface="Calibri" pitchFamily="34" charset="0"/>
                <a:ea typeface="Calibri" pitchFamily="34" charset="-122"/>
                <a:cs typeface="Calibri" pitchFamily="34" charset="-120"/>
              </a:rPr>
              <a:t>correlation between JFK distance and fare — essentially none</a:t>
            </a:r>
            <a:endParaRPr lang="en-US" sz="1250" dirty="0"/>
          </a:p>
        </p:txBody>
      </p:sp>
      <p:sp>
        <p:nvSpPr>
          <p:cNvPr id="10" name="Text 7"/>
          <p:cNvSpPr/>
          <p:nvPr/>
        </p:nvSpPr>
        <p:spPr>
          <a:xfrm>
            <a:off x="457200" y="2697480"/>
            <a:ext cx="5349240" cy="320040"/>
          </a:xfrm>
          <a:prstGeom prst="rect">
            <a:avLst/>
          </a:prstGeom>
          <a:noFill/>
          <a:ln/>
        </p:spPr>
        <p:txBody>
          <a:bodyPr wrap="square" rtlCol="0" anchor="ctr"/>
          <a:lstStyle/>
          <a:p>
            <a:pPr indent="0" marL="0">
              <a:buNone/>
            </a:pPr>
            <a:r>
              <a:rPr lang="en-US" sz="1300" b="1" spc="100" kern="0" dirty="0">
                <a:solidFill>
                  <a:srgbClr val="14172B"/>
                </a:solidFill>
                <a:latin typeface="Calibri" pitchFamily="34" charset="0"/>
                <a:ea typeface="Calibri" pitchFamily="34" charset="-122"/>
                <a:cs typeface="Calibri" pitchFamily="34" charset="-120"/>
              </a:rPr>
              <a:t>WHY A SCATTER PLOT</a:t>
            </a:r>
            <a:endParaRPr lang="en-US" sz="1300" dirty="0"/>
          </a:p>
        </p:txBody>
      </p:sp>
      <p:sp>
        <p:nvSpPr>
          <p:cNvPr id="11" name="Text 8"/>
          <p:cNvSpPr/>
          <p:nvPr/>
        </p:nvSpPr>
        <p:spPr>
          <a:xfrm>
            <a:off x="457200" y="3017520"/>
            <a:ext cx="5349240" cy="2880360"/>
          </a:xfrm>
          <a:prstGeom prst="rect">
            <a:avLst/>
          </a:prstGeom>
          <a:noFill/>
          <a:ln/>
        </p:spPr>
        <p:txBody>
          <a:bodyPr wrap="square" rtlCol="0" anchor="t"/>
          <a:lstStyle/>
          <a:p>
            <a:pPr indent="0" marL="0">
              <a:lnSpc>
                <a:spcPts val="1900"/>
              </a:lnSpc>
              <a:buNone/>
            </a:pPr>
            <a:r>
              <a:rPr lang="en-US" sz="1350" dirty="0">
                <a:solidFill>
                  <a:srgbClr val="1B1F2A"/>
                </a:solidFill>
                <a:latin typeface="Calibri" pitchFamily="34" charset="0"/>
                <a:ea typeface="Calibri" pitchFamily="34" charset="-122"/>
                <a:cs typeface="Calibri" pitchFamily="34" charset="-120"/>
              </a:rPr>
              <a:t>Airport distance and fare are both numeric, so a scatter plot is used to check whether shorter airport distance lines up with higher fares.</a:t>
            </a:r>
            <a:endParaRPr lang="en-US" sz="1350" dirty="0"/>
          </a:p>
          <a:p>
            <a:pPr indent="0" marL="0">
              <a:lnSpc>
                <a:spcPts val="1900"/>
              </a:lnSpc>
              <a:buNone/>
            </a:pPr>
            <a:endParaRPr lang="en-US" sz="1350" dirty="0"/>
          </a:p>
          <a:p>
            <a:pPr indent="0" marL="0">
              <a:lnSpc>
                <a:spcPts val="1900"/>
              </a:lnSpc>
              <a:buNone/>
            </a:pPr>
            <a:r>
              <a:rPr lang="en-US" sz="1350" dirty="0">
                <a:solidFill>
                  <a:srgbClr val="1B1F2A"/>
                </a:solidFill>
                <a:latin typeface="Calibri" pitchFamily="34" charset="0"/>
                <a:ea typeface="Calibri" pitchFamily="34" charset="-122"/>
                <a:cs typeface="Calibri" pitchFamily="34" charset="-120"/>
              </a:rPr>
              <a:t>The cloud of points shows no meaningful pattern — pickups near JFK are not priced differently from pickups far away in this dataset. Combined with the flat trend for EWR (0.014) and LGA (0.011) on the next slide, there's no evidence of airport-zone pricing here.</a:t>
            </a:r>
            <a:endParaRPr lang="en-US" sz="1350" dirty="0"/>
          </a:p>
        </p:txBody>
      </p:sp>
      <p:sp>
        <p:nvSpPr>
          <p:cNvPr id="12" name="Text 9"/>
          <p:cNvSpPr/>
          <p:nvPr/>
        </p:nvSpPr>
        <p:spPr>
          <a:xfrm>
            <a:off x="11567160" y="6473952"/>
            <a:ext cx="457200" cy="274320"/>
          </a:xfrm>
          <a:prstGeom prst="rect">
            <a:avLst/>
          </a:prstGeom>
          <a:noFill/>
          <a:ln/>
        </p:spPr>
        <p:txBody>
          <a:bodyPr wrap="square" rtlCol="0" anchor="ctr"/>
          <a:lstStyle/>
          <a:p>
            <a:pPr algn="r" indent="0" marL="0">
              <a:buNone/>
            </a:pPr>
            <a:r>
              <a:rPr lang="en-US" sz="1000" dirty="0">
                <a:solidFill>
                  <a:srgbClr val="6B7086"/>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rtlCol="0" anchor="ctr"/>
          <a:lstStyle/>
          <a:p>
            <a:pPr indent="0" marL="0">
              <a:buNone/>
            </a:pPr>
            <a:r>
              <a:rPr lang="en-US" sz="1300" b="1" spc="200" kern="0" dirty="0">
                <a:solidFill>
                  <a:srgbClr val="6B7086"/>
                </a:solidFill>
                <a:latin typeface="Calibri" pitchFamily="34" charset="0"/>
                <a:ea typeface="Calibri" pitchFamily="34" charset="-122"/>
                <a:cs typeface="Calibri" pitchFamily="34" charset="-120"/>
              </a:rPr>
              <a:t>GOING FURTHER</a:t>
            </a:r>
            <a:endParaRPr lang="en-US" sz="1300" dirty="0"/>
          </a:p>
        </p:txBody>
      </p:sp>
      <p:sp>
        <p:nvSpPr>
          <p:cNvPr id="3" name="Text 1"/>
          <p:cNvSpPr/>
          <p:nvPr/>
        </p:nvSpPr>
        <p:spPr>
          <a:xfrm>
            <a:off x="548640" y="777240"/>
            <a:ext cx="10789920" cy="548640"/>
          </a:xfrm>
          <a:prstGeom prst="rect">
            <a:avLst/>
          </a:prstGeom>
          <a:noFill/>
          <a:ln/>
        </p:spPr>
        <p:txBody>
          <a:bodyPr wrap="square" rtlCol="0" anchor="ctr"/>
          <a:lstStyle/>
          <a:p>
            <a:pPr indent="0" marL="0">
              <a:buNone/>
            </a:pPr>
            <a:r>
              <a:rPr lang="en-US" sz="2600" b="1" dirty="0">
                <a:solidFill>
                  <a:srgbClr val="1B1F2A"/>
                </a:solidFill>
                <a:latin typeface="Cambria" pitchFamily="34" charset="0"/>
                <a:ea typeface="Cambria" pitchFamily="34" charset="-122"/>
                <a:cs typeface="Cambria" pitchFamily="34" charset="-120"/>
              </a:rPr>
              <a:t>Three follow-up checks, same story</a:t>
            </a:r>
            <a:endParaRPr lang="en-US" sz="2600" dirty="0"/>
          </a:p>
        </p:txBody>
      </p:sp>
      <p:sp>
        <p:nvSpPr>
          <p:cNvPr id="4" name="Text 2"/>
          <p:cNvSpPr/>
          <p:nvPr/>
        </p:nvSpPr>
        <p:spPr>
          <a:xfrm>
            <a:off x="548640" y="1371600"/>
            <a:ext cx="10789920" cy="457200"/>
          </a:xfrm>
          <a:prstGeom prst="rect">
            <a:avLst/>
          </a:prstGeom>
          <a:noFill/>
          <a:ln/>
        </p:spPr>
        <p:txBody>
          <a:bodyPr wrap="square" rtlCol="0" anchor="ctr"/>
          <a:lstStyle/>
          <a:p>
            <a:pPr indent="0" marL="0">
              <a:lnSpc>
                <a:spcPts val="1700"/>
              </a:lnSpc>
              <a:buNone/>
            </a:pPr>
            <a:r>
              <a:rPr lang="en-US" sz="1300" dirty="0">
                <a:solidFill>
                  <a:srgbClr val="6B7086"/>
                </a:solidFill>
                <a:latin typeface="Calibri" pitchFamily="34" charset="0"/>
                <a:ea typeface="Calibri" pitchFamily="34" charset="-122"/>
                <a:cs typeface="Calibri" pitchFamily="34" charset="-120"/>
              </a:rPr>
              <a:t>Beyond the eight core questions, a few natural extensions were tested to see whether any of them broke the pattern of weak single-variable relationships.</a:t>
            </a:r>
            <a:endParaRPr lang="en-US" sz="1300" dirty="0"/>
          </a:p>
        </p:txBody>
      </p:sp>
      <p:sp>
        <p:nvSpPr>
          <p:cNvPr id="5" name="Shape 3"/>
          <p:cNvSpPr/>
          <p:nvPr/>
        </p:nvSpPr>
        <p:spPr>
          <a:xfrm>
            <a:off x="548640" y="2148840"/>
            <a:ext cx="3502152" cy="3931920"/>
          </a:xfrm>
          <a:prstGeom prst="roundRect">
            <a:avLst>
              <a:gd name="adj" fmla="val 2089"/>
            </a:avLst>
          </a:prstGeom>
          <a:solidFill>
            <a:srgbClr val="14172B"/>
          </a:solidFill>
          <a:ln/>
        </p:spPr>
      </p:sp>
      <p:sp>
        <p:nvSpPr>
          <p:cNvPr id="6" name="Shape 4"/>
          <p:cNvSpPr/>
          <p:nvPr/>
        </p:nvSpPr>
        <p:spPr>
          <a:xfrm>
            <a:off x="822960" y="2423160"/>
            <a:ext cx="457200" cy="457200"/>
          </a:xfrm>
          <a:prstGeom prst="ellipse">
            <a:avLst/>
          </a:prstGeom>
          <a:solidFill>
            <a:srgbClr val="FFC300"/>
          </a:solidFill>
          <a:ln/>
        </p:spPr>
      </p:sp>
      <p:sp>
        <p:nvSpPr>
          <p:cNvPr id="7" name="Text 5"/>
          <p:cNvSpPr/>
          <p:nvPr/>
        </p:nvSpPr>
        <p:spPr>
          <a:xfrm>
            <a:off x="822960" y="2423160"/>
            <a:ext cx="457200" cy="457200"/>
          </a:xfrm>
          <a:prstGeom prst="rect">
            <a:avLst/>
          </a:prstGeom>
          <a:noFill/>
          <a:ln/>
        </p:spPr>
        <p:txBody>
          <a:bodyPr wrap="square" lIns="0" tIns="0" rIns="0" bIns="0" rtlCol="0" anchor="ctr"/>
          <a:lstStyle/>
          <a:p>
            <a:pPr algn="ctr" indent="0" marL="0">
              <a:buNone/>
            </a:pPr>
            <a:r>
              <a:rPr lang="en-US" sz="1700" b="1" dirty="0">
                <a:solidFill>
                  <a:srgbClr val="14172B"/>
                </a:solidFill>
                <a:latin typeface="Cambria" pitchFamily="34" charset="0"/>
                <a:ea typeface="Cambria" pitchFamily="34" charset="-122"/>
                <a:cs typeface="Cambria" pitchFamily="34" charset="-120"/>
              </a:rPr>
              <a:t>1</a:t>
            </a:r>
            <a:endParaRPr lang="en-US" sz="1700" dirty="0"/>
          </a:p>
        </p:txBody>
      </p:sp>
      <p:sp>
        <p:nvSpPr>
          <p:cNvPr id="8" name="Text 6"/>
          <p:cNvSpPr/>
          <p:nvPr/>
        </p:nvSpPr>
        <p:spPr>
          <a:xfrm>
            <a:off x="822960" y="3063240"/>
            <a:ext cx="2953512" cy="640080"/>
          </a:xfrm>
          <a:prstGeom prst="rect">
            <a:avLst/>
          </a:prstGeom>
          <a:noFill/>
          <a:ln/>
        </p:spPr>
        <p:txBody>
          <a:bodyPr wrap="square" rtlCol="0" anchor="ctr"/>
          <a:lstStyle/>
          <a:p>
            <a:pPr indent="0" marL="0">
              <a:lnSpc>
                <a:spcPts val="1900"/>
              </a:lnSpc>
              <a:buNone/>
            </a:pPr>
            <a:r>
              <a:rPr lang="en-US" sz="1600" b="1" dirty="0">
                <a:solidFill>
                  <a:srgbClr val="FFFFFF"/>
                </a:solidFill>
                <a:latin typeface="Cambria" pitchFamily="34" charset="0"/>
                <a:ea typeface="Cambria" pitchFamily="34" charset="-122"/>
                <a:cs typeface="Cambria" pitchFamily="34" charset="-120"/>
              </a:rPr>
              <a:t>Weekend vs. weekday</a:t>
            </a:r>
            <a:endParaRPr lang="en-US" sz="1600" dirty="0"/>
          </a:p>
        </p:txBody>
      </p:sp>
      <p:sp>
        <p:nvSpPr>
          <p:cNvPr id="9" name="Text 7"/>
          <p:cNvSpPr/>
          <p:nvPr/>
        </p:nvSpPr>
        <p:spPr>
          <a:xfrm>
            <a:off x="822960" y="3749040"/>
            <a:ext cx="2953512" cy="685800"/>
          </a:xfrm>
          <a:prstGeom prst="rect">
            <a:avLst/>
          </a:prstGeom>
          <a:noFill/>
          <a:ln/>
        </p:spPr>
        <p:txBody>
          <a:bodyPr wrap="square" rtlCol="0" anchor="ctr"/>
          <a:lstStyle/>
          <a:p>
            <a:pPr indent="0" marL="0">
              <a:lnSpc>
                <a:spcPts val="1800"/>
              </a:lnSpc>
              <a:buNone/>
            </a:pPr>
            <a:r>
              <a:rPr lang="en-US" sz="1550" b="1" dirty="0">
                <a:solidFill>
                  <a:srgbClr val="FFC300"/>
                </a:solidFill>
                <a:latin typeface="Calibri" pitchFamily="34" charset="0"/>
                <a:ea typeface="Calibri" pitchFamily="34" charset="-122"/>
                <a:cs typeface="Calibri" pitchFamily="34" charset="-120"/>
              </a:rPr>
              <a:t>$11.36  vs  $11.31</a:t>
            </a:r>
            <a:endParaRPr lang="en-US" sz="1550" dirty="0"/>
          </a:p>
        </p:txBody>
      </p:sp>
      <p:sp>
        <p:nvSpPr>
          <p:cNvPr id="10" name="Text 8"/>
          <p:cNvSpPr/>
          <p:nvPr/>
        </p:nvSpPr>
        <p:spPr>
          <a:xfrm>
            <a:off x="822960" y="4526280"/>
            <a:ext cx="2953512" cy="1371600"/>
          </a:xfrm>
          <a:prstGeom prst="rect">
            <a:avLst/>
          </a:prstGeom>
          <a:noFill/>
          <a:ln/>
        </p:spPr>
        <p:txBody>
          <a:bodyPr wrap="square" rtlCol="0" anchor="ctr"/>
          <a:lstStyle/>
          <a:p>
            <a:pPr indent="0" marL="0">
              <a:lnSpc>
                <a:spcPts val="1600"/>
              </a:lnSpc>
              <a:buNone/>
            </a:pPr>
            <a:r>
              <a:rPr lang="en-US" sz="1150" dirty="0">
                <a:solidFill>
                  <a:srgbClr val="C7CBE0"/>
                </a:solidFill>
                <a:latin typeface="Calibri" pitchFamily="34" charset="0"/>
                <a:ea typeface="Calibri" pitchFamily="34" charset="-122"/>
                <a:cs typeface="Calibri" pitchFamily="34" charset="-120"/>
              </a:rPr>
              <a:t>Average fare barely moves between weekday and weekend trips, and both share the same $8.50 median. Day-of-week alone is not a fare driver.</a:t>
            </a:r>
            <a:endParaRPr lang="en-US" sz="1150" dirty="0"/>
          </a:p>
        </p:txBody>
      </p:sp>
      <p:sp>
        <p:nvSpPr>
          <p:cNvPr id="11" name="Shape 9"/>
          <p:cNvSpPr/>
          <p:nvPr/>
        </p:nvSpPr>
        <p:spPr>
          <a:xfrm>
            <a:off x="4279392" y="2148840"/>
            <a:ext cx="3502152" cy="3931920"/>
          </a:xfrm>
          <a:prstGeom prst="roundRect">
            <a:avLst>
              <a:gd name="adj" fmla="val 2089"/>
            </a:avLst>
          </a:prstGeom>
          <a:solidFill>
            <a:srgbClr val="14172B"/>
          </a:solidFill>
          <a:ln/>
        </p:spPr>
      </p:sp>
      <p:sp>
        <p:nvSpPr>
          <p:cNvPr id="12" name="Shape 10"/>
          <p:cNvSpPr/>
          <p:nvPr/>
        </p:nvSpPr>
        <p:spPr>
          <a:xfrm>
            <a:off x="4553712" y="2423160"/>
            <a:ext cx="457200" cy="457200"/>
          </a:xfrm>
          <a:prstGeom prst="ellipse">
            <a:avLst/>
          </a:prstGeom>
          <a:solidFill>
            <a:srgbClr val="FFC300"/>
          </a:solidFill>
          <a:ln/>
        </p:spPr>
      </p:sp>
      <p:sp>
        <p:nvSpPr>
          <p:cNvPr id="13" name="Text 11"/>
          <p:cNvSpPr/>
          <p:nvPr/>
        </p:nvSpPr>
        <p:spPr>
          <a:xfrm>
            <a:off x="4553712" y="2423160"/>
            <a:ext cx="457200" cy="457200"/>
          </a:xfrm>
          <a:prstGeom prst="rect">
            <a:avLst/>
          </a:prstGeom>
          <a:noFill/>
          <a:ln/>
        </p:spPr>
        <p:txBody>
          <a:bodyPr wrap="square" lIns="0" tIns="0" rIns="0" bIns="0" rtlCol="0" anchor="ctr"/>
          <a:lstStyle/>
          <a:p>
            <a:pPr algn="ctr" indent="0" marL="0">
              <a:buNone/>
            </a:pPr>
            <a:r>
              <a:rPr lang="en-US" sz="1700" b="1" dirty="0">
                <a:solidFill>
                  <a:srgbClr val="14172B"/>
                </a:solidFill>
                <a:latin typeface="Cambria" pitchFamily="34" charset="0"/>
                <a:ea typeface="Cambria" pitchFamily="34" charset="-122"/>
                <a:cs typeface="Cambria" pitchFamily="34" charset="-120"/>
              </a:rPr>
              <a:t>2</a:t>
            </a:r>
            <a:endParaRPr lang="en-US" sz="1700" dirty="0"/>
          </a:p>
        </p:txBody>
      </p:sp>
      <p:sp>
        <p:nvSpPr>
          <p:cNvPr id="14" name="Text 12"/>
          <p:cNvSpPr/>
          <p:nvPr/>
        </p:nvSpPr>
        <p:spPr>
          <a:xfrm>
            <a:off x="4553712" y="3063240"/>
            <a:ext cx="2953512" cy="640080"/>
          </a:xfrm>
          <a:prstGeom prst="rect">
            <a:avLst/>
          </a:prstGeom>
          <a:noFill/>
          <a:ln/>
        </p:spPr>
        <p:txBody>
          <a:bodyPr wrap="square" rtlCol="0" anchor="ctr"/>
          <a:lstStyle/>
          <a:p>
            <a:pPr indent="0" marL="0">
              <a:lnSpc>
                <a:spcPts val="1900"/>
              </a:lnSpc>
              <a:buNone/>
            </a:pPr>
            <a:r>
              <a:rPr lang="en-US" sz="1600" b="1" dirty="0">
                <a:solidFill>
                  <a:srgbClr val="FFFFFF"/>
                </a:solidFill>
                <a:latin typeface="Cambria" pitchFamily="34" charset="0"/>
                <a:ea typeface="Cambria" pitchFamily="34" charset="-122"/>
                <a:cs typeface="Cambria" pitchFamily="34" charset="-120"/>
              </a:rPr>
              <a:t>Weather vs. ride volume</a:t>
            </a:r>
            <a:endParaRPr lang="en-US" sz="1600" dirty="0"/>
          </a:p>
        </p:txBody>
      </p:sp>
      <p:sp>
        <p:nvSpPr>
          <p:cNvPr id="15" name="Text 13"/>
          <p:cNvSpPr/>
          <p:nvPr/>
        </p:nvSpPr>
        <p:spPr>
          <a:xfrm>
            <a:off x="4553712" y="3749040"/>
            <a:ext cx="2953512" cy="685800"/>
          </a:xfrm>
          <a:prstGeom prst="rect">
            <a:avLst/>
          </a:prstGeom>
          <a:noFill/>
          <a:ln/>
        </p:spPr>
        <p:txBody>
          <a:bodyPr wrap="square" rtlCol="0" anchor="ctr"/>
          <a:lstStyle/>
          <a:p>
            <a:pPr indent="0" marL="0">
              <a:lnSpc>
                <a:spcPts val="1800"/>
              </a:lnSpc>
              <a:buNone/>
            </a:pPr>
            <a:r>
              <a:rPr lang="en-US" sz="1550" b="1" dirty="0">
                <a:solidFill>
                  <a:srgbClr val="FFC300"/>
                </a:solidFill>
                <a:latin typeface="Calibri" pitchFamily="34" charset="0"/>
                <a:ea typeface="Calibri" pitchFamily="34" charset="-122"/>
                <a:cs typeface="Calibri" pitchFamily="34" charset="-120"/>
              </a:rPr>
              <a:t>11,236 – 11,426</a:t>
            </a:r>
            <a:endParaRPr lang="en-US" sz="1550" dirty="0"/>
          </a:p>
        </p:txBody>
      </p:sp>
      <p:sp>
        <p:nvSpPr>
          <p:cNvPr id="16" name="Text 14"/>
          <p:cNvSpPr/>
          <p:nvPr/>
        </p:nvSpPr>
        <p:spPr>
          <a:xfrm>
            <a:off x="4553712" y="4526280"/>
            <a:ext cx="2953512" cy="1371600"/>
          </a:xfrm>
          <a:prstGeom prst="rect">
            <a:avLst/>
          </a:prstGeom>
          <a:noFill/>
          <a:ln/>
        </p:spPr>
        <p:txBody>
          <a:bodyPr wrap="square" rtlCol="0" anchor="ctr"/>
          <a:lstStyle/>
          <a:p>
            <a:pPr indent="0" marL="0">
              <a:lnSpc>
                <a:spcPts val="1600"/>
              </a:lnSpc>
              <a:buNone/>
            </a:pPr>
            <a:r>
              <a:rPr lang="en-US" sz="1150" dirty="0">
                <a:solidFill>
                  <a:srgbClr val="C7CBE0"/>
                </a:solidFill>
                <a:latin typeface="Calibri" pitchFamily="34" charset="0"/>
                <a:ea typeface="Calibri" pitchFamily="34" charset="-122"/>
                <a:cs typeface="Calibri" pitchFamily="34" charset="-120"/>
              </a:rPr>
              <a:t>Ride counts stay within a tight band across sunny, stormy, rainy, windy and cloudy days. Demand in this dataset doesn't swing with weather.</a:t>
            </a:r>
            <a:endParaRPr lang="en-US" sz="1150" dirty="0"/>
          </a:p>
        </p:txBody>
      </p:sp>
      <p:sp>
        <p:nvSpPr>
          <p:cNvPr id="17" name="Shape 15"/>
          <p:cNvSpPr/>
          <p:nvPr/>
        </p:nvSpPr>
        <p:spPr>
          <a:xfrm>
            <a:off x="8010144" y="2148840"/>
            <a:ext cx="3502152" cy="3931920"/>
          </a:xfrm>
          <a:prstGeom prst="roundRect">
            <a:avLst>
              <a:gd name="adj" fmla="val 2089"/>
            </a:avLst>
          </a:prstGeom>
          <a:solidFill>
            <a:srgbClr val="14172B"/>
          </a:solidFill>
          <a:ln/>
        </p:spPr>
      </p:sp>
      <p:sp>
        <p:nvSpPr>
          <p:cNvPr id="18" name="Shape 16"/>
          <p:cNvSpPr/>
          <p:nvPr/>
        </p:nvSpPr>
        <p:spPr>
          <a:xfrm>
            <a:off x="8284464" y="2423160"/>
            <a:ext cx="457200" cy="457200"/>
          </a:xfrm>
          <a:prstGeom prst="ellipse">
            <a:avLst/>
          </a:prstGeom>
          <a:solidFill>
            <a:srgbClr val="FFC300"/>
          </a:solidFill>
          <a:ln/>
        </p:spPr>
      </p:sp>
      <p:sp>
        <p:nvSpPr>
          <p:cNvPr id="19" name="Text 17"/>
          <p:cNvSpPr/>
          <p:nvPr/>
        </p:nvSpPr>
        <p:spPr>
          <a:xfrm>
            <a:off x="8284464" y="2423160"/>
            <a:ext cx="457200" cy="457200"/>
          </a:xfrm>
          <a:prstGeom prst="rect">
            <a:avLst/>
          </a:prstGeom>
          <a:noFill/>
          <a:ln/>
        </p:spPr>
        <p:txBody>
          <a:bodyPr wrap="square" lIns="0" tIns="0" rIns="0" bIns="0" rtlCol="0" anchor="ctr"/>
          <a:lstStyle/>
          <a:p>
            <a:pPr algn="ctr" indent="0" marL="0">
              <a:buNone/>
            </a:pPr>
            <a:r>
              <a:rPr lang="en-US" sz="1700" b="1" dirty="0">
                <a:solidFill>
                  <a:srgbClr val="14172B"/>
                </a:solidFill>
                <a:latin typeface="Cambria" pitchFamily="34" charset="0"/>
                <a:ea typeface="Cambria" pitchFamily="34" charset="-122"/>
                <a:cs typeface="Cambria" pitchFamily="34" charset="-120"/>
              </a:rPr>
              <a:t>3</a:t>
            </a:r>
            <a:endParaRPr lang="en-US" sz="1700" dirty="0"/>
          </a:p>
        </p:txBody>
      </p:sp>
      <p:sp>
        <p:nvSpPr>
          <p:cNvPr id="20" name="Text 18"/>
          <p:cNvSpPr/>
          <p:nvPr/>
        </p:nvSpPr>
        <p:spPr>
          <a:xfrm>
            <a:off x="8284464" y="3063240"/>
            <a:ext cx="2953512" cy="640080"/>
          </a:xfrm>
          <a:prstGeom prst="rect">
            <a:avLst/>
          </a:prstGeom>
          <a:noFill/>
          <a:ln/>
        </p:spPr>
        <p:txBody>
          <a:bodyPr wrap="square" rtlCol="0" anchor="ctr"/>
          <a:lstStyle/>
          <a:p>
            <a:pPr indent="0" marL="0">
              <a:lnSpc>
                <a:spcPts val="1900"/>
              </a:lnSpc>
              <a:buNone/>
            </a:pPr>
            <a:r>
              <a:rPr lang="en-US" sz="1600" b="1" dirty="0">
                <a:solidFill>
                  <a:srgbClr val="FFFFFF"/>
                </a:solidFill>
                <a:latin typeface="Cambria" pitchFamily="34" charset="0"/>
                <a:ea typeface="Cambria" pitchFamily="34" charset="-122"/>
                <a:cs typeface="Cambria" pitchFamily="34" charset="-120"/>
              </a:rPr>
              <a:t>Airport distance, compared</a:t>
            </a:r>
            <a:endParaRPr lang="en-US" sz="1600" dirty="0"/>
          </a:p>
        </p:txBody>
      </p:sp>
      <p:sp>
        <p:nvSpPr>
          <p:cNvPr id="21" name="Text 19"/>
          <p:cNvSpPr/>
          <p:nvPr/>
        </p:nvSpPr>
        <p:spPr>
          <a:xfrm>
            <a:off x="8284464" y="3749040"/>
            <a:ext cx="2953512" cy="685800"/>
          </a:xfrm>
          <a:prstGeom prst="rect">
            <a:avLst/>
          </a:prstGeom>
          <a:noFill/>
          <a:ln/>
        </p:spPr>
        <p:txBody>
          <a:bodyPr wrap="square" rtlCol="0" anchor="ctr"/>
          <a:lstStyle/>
          <a:p>
            <a:pPr indent="0" marL="0">
              <a:lnSpc>
                <a:spcPts val="1800"/>
              </a:lnSpc>
              <a:buNone/>
            </a:pPr>
            <a:r>
              <a:rPr lang="en-US" sz="1550" b="1" dirty="0">
                <a:solidFill>
                  <a:srgbClr val="FFC300"/>
                </a:solidFill>
                <a:latin typeface="Calibri" pitchFamily="34" charset="0"/>
                <a:ea typeface="Calibri" pitchFamily="34" charset="-122"/>
                <a:cs typeface="Calibri" pitchFamily="34" charset="-120"/>
              </a:rPr>
              <a:t>JFK 0.008 · EWR 0.014 · LGA 0.011</a:t>
            </a:r>
            <a:endParaRPr lang="en-US" sz="1550" dirty="0"/>
          </a:p>
        </p:txBody>
      </p:sp>
      <p:sp>
        <p:nvSpPr>
          <p:cNvPr id="22" name="Text 20"/>
          <p:cNvSpPr/>
          <p:nvPr/>
        </p:nvSpPr>
        <p:spPr>
          <a:xfrm>
            <a:off x="8284464" y="4526280"/>
            <a:ext cx="2953512" cy="1371600"/>
          </a:xfrm>
          <a:prstGeom prst="rect">
            <a:avLst/>
          </a:prstGeom>
          <a:noFill/>
          <a:ln/>
        </p:spPr>
        <p:txBody>
          <a:bodyPr wrap="square" rtlCol="0" anchor="ctr"/>
          <a:lstStyle/>
          <a:p>
            <a:pPr indent="0" marL="0">
              <a:lnSpc>
                <a:spcPts val="1600"/>
              </a:lnSpc>
              <a:buNone/>
            </a:pPr>
            <a:r>
              <a:rPr lang="en-US" sz="1150" dirty="0">
                <a:solidFill>
                  <a:srgbClr val="C7CBE0"/>
                </a:solidFill>
                <a:latin typeface="Calibri" pitchFamily="34" charset="0"/>
                <a:ea typeface="Calibri" pitchFamily="34" charset="-122"/>
                <a:cs typeface="Calibri" pitchFamily="34" charset="-120"/>
              </a:rPr>
              <a:t>All three airport-distance correlations with fare round to essentially zero — confirming Q8 wasn't specific to JFK alone.</a:t>
            </a:r>
            <a:endParaRPr lang="en-US" sz="1150" dirty="0"/>
          </a:p>
        </p:txBody>
      </p:sp>
      <p:sp>
        <p:nvSpPr>
          <p:cNvPr id="23" name="Text 21"/>
          <p:cNvSpPr/>
          <p:nvPr/>
        </p:nvSpPr>
        <p:spPr>
          <a:xfrm>
            <a:off x="11567160" y="6473952"/>
            <a:ext cx="457200" cy="274320"/>
          </a:xfrm>
          <a:prstGeom prst="rect">
            <a:avLst/>
          </a:prstGeom>
          <a:noFill/>
          <a:ln/>
        </p:spPr>
        <p:txBody>
          <a:bodyPr wrap="square" rtlCol="0" anchor="ctr"/>
          <a:lstStyle/>
          <a:p>
            <a:pPr algn="r" indent="0" marL="0">
              <a:buNone/>
            </a:pPr>
            <a:r>
              <a:rPr lang="en-US" sz="1000" dirty="0">
                <a:solidFill>
                  <a:srgbClr val="6B7086"/>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72B"/>
        </a:solidFill>
      </p:bgPr>
    </p:bg>
    <p:spTree>
      <p:nvGrpSpPr>
        <p:cNvPr id="1" name=""/>
        <p:cNvGrpSpPr/>
        <p:nvPr/>
      </p:nvGrpSpPr>
      <p:grpSpPr>
        <a:xfrm>
          <a:off x="0" y="0"/>
          <a:ext cx="0" cy="0"/>
          <a:chOff x="0" y="0"/>
          <a:chExt cx="0" cy="0"/>
        </a:xfrm>
      </p:grpSpPr>
      <p:sp>
        <p:nvSpPr>
          <p:cNvPr id="2" name="Shape 0"/>
          <p:cNvSpPr/>
          <p:nvPr/>
        </p:nvSpPr>
        <p:spPr>
          <a:xfrm>
            <a:off x="10332720" y="4206240"/>
            <a:ext cx="3840480" cy="3840480"/>
          </a:xfrm>
          <a:prstGeom prst="ellipse">
            <a:avLst/>
          </a:prstGeom>
          <a:solidFill>
            <a:srgbClr val="1E2340"/>
          </a:solidFill>
          <a:ln/>
        </p:spPr>
      </p:sp>
      <p:sp>
        <p:nvSpPr>
          <p:cNvPr id="3" name="Text 1"/>
          <p:cNvSpPr/>
          <p:nvPr/>
        </p:nvSpPr>
        <p:spPr>
          <a:xfrm>
            <a:off x="640080" y="502920"/>
            <a:ext cx="7315200" cy="320040"/>
          </a:xfrm>
          <a:prstGeom prst="rect">
            <a:avLst/>
          </a:prstGeom>
          <a:noFill/>
          <a:ln/>
        </p:spPr>
        <p:txBody>
          <a:bodyPr wrap="square" rtlCol="0" anchor="ctr"/>
          <a:lstStyle/>
          <a:p>
            <a:pPr indent="0" marL="0">
              <a:buNone/>
            </a:pPr>
            <a:r>
              <a:rPr lang="en-US" sz="1300" b="1" spc="200" kern="0" dirty="0">
                <a:solidFill>
                  <a:srgbClr val="FFC300"/>
                </a:solidFill>
                <a:latin typeface="Calibri" pitchFamily="34" charset="0"/>
                <a:ea typeface="Calibri" pitchFamily="34" charset="-122"/>
                <a:cs typeface="Calibri" pitchFamily="34" charset="-120"/>
              </a:rPr>
              <a:t>KEY TAKEAWAYS</a:t>
            </a:r>
            <a:endParaRPr lang="en-US" sz="1300" dirty="0"/>
          </a:p>
        </p:txBody>
      </p:sp>
      <p:sp>
        <p:nvSpPr>
          <p:cNvPr id="4" name="Text 2"/>
          <p:cNvSpPr/>
          <p:nvPr/>
        </p:nvSpPr>
        <p:spPr>
          <a:xfrm>
            <a:off x="640080" y="841248"/>
            <a:ext cx="10058400" cy="64008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What this EDA means for Task 2</a:t>
            </a:r>
            <a:endParaRPr lang="en-US" sz="2800" dirty="0"/>
          </a:p>
        </p:txBody>
      </p:sp>
      <p:sp>
        <p:nvSpPr>
          <p:cNvPr id="5" name="Shape 3"/>
          <p:cNvSpPr/>
          <p:nvPr/>
        </p:nvSpPr>
        <p:spPr>
          <a:xfrm>
            <a:off x="640080" y="1874520"/>
            <a:ext cx="5166360" cy="1170432"/>
          </a:xfrm>
          <a:prstGeom prst="roundRect">
            <a:avLst>
              <a:gd name="adj" fmla="val 6250"/>
            </a:avLst>
          </a:prstGeom>
          <a:solidFill>
            <a:srgbClr val="1E2340"/>
          </a:solidFill>
          <a:ln/>
        </p:spPr>
      </p:sp>
      <p:sp>
        <p:nvSpPr>
          <p:cNvPr id="6" name="Shape 4"/>
          <p:cNvSpPr/>
          <p:nvPr/>
        </p:nvSpPr>
        <p:spPr>
          <a:xfrm>
            <a:off x="841248" y="2231136"/>
            <a:ext cx="457200" cy="457200"/>
          </a:xfrm>
          <a:prstGeom prst="ellipse">
            <a:avLst/>
          </a:prstGeom>
          <a:solidFill>
            <a:srgbClr val="FFC300"/>
          </a:solidFill>
          <a:ln/>
        </p:spPr>
      </p:sp>
      <p:sp>
        <p:nvSpPr>
          <p:cNvPr id="7" name="Text 5"/>
          <p:cNvSpPr/>
          <p:nvPr/>
        </p:nvSpPr>
        <p:spPr>
          <a:xfrm>
            <a:off x="841248" y="2231136"/>
            <a:ext cx="457200" cy="457200"/>
          </a:xfrm>
          <a:prstGeom prst="rect">
            <a:avLst/>
          </a:prstGeom>
          <a:noFill/>
          <a:ln/>
        </p:spPr>
        <p:txBody>
          <a:bodyPr wrap="square" lIns="0" tIns="0" rIns="0" bIns="0" rtlCol="0" anchor="ctr"/>
          <a:lstStyle/>
          <a:p>
            <a:pPr algn="ctr" indent="0" marL="0">
              <a:buNone/>
            </a:pPr>
            <a:r>
              <a:rPr lang="en-US" sz="1700" b="1" dirty="0">
                <a:solidFill>
                  <a:srgbClr val="14172B"/>
                </a:solidFill>
                <a:latin typeface="Cambria" pitchFamily="34" charset="0"/>
                <a:ea typeface="Cambria" pitchFamily="34" charset="-122"/>
                <a:cs typeface="Cambria" pitchFamily="34" charset="-120"/>
              </a:rPr>
              <a:t>1</a:t>
            </a:r>
            <a:endParaRPr lang="en-US" sz="1700" dirty="0"/>
          </a:p>
        </p:txBody>
      </p:sp>
      <p:sp>
        <p:nvSpPr>
          <p:cNvPr id="8" name="Text 6"/>
          <p:cNvSpPr/>
          <p:nvPr/>
        </p:nvSpPr>
        <p:spPr>
          <a:xfrm>
            <a:off x="1463040" y="2002536"/>
            <a:ext cx="4160520" cy="38404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Hour of day is the strongest pattern found</a:t>
            </a:r>
            <a:endParaRPr lang="en-US" sz="1300" dirty="0"/>
          </a:p>
        </p:txBody>
      </p:sp>
      <p:sp>
        <p:nvSpPr>
          <p:cNvPr id="9" name="Text 7"/>
          <p:cNvSpPr/>
          <p:nvPr/>
        </p:nvSpPr>
        <p:spPr>
          <a:xfrm>
            <a:off x="1463040" y="2377440"/>
            <a:ext cx="4160520" cy="594360"/>
          </a:xfrm>
          <a:prstGeom prst="rect">
            <a:avLst/>
          </a:prstGeom>
          <a:noFill/>
          <a:ln/>
        </p:spPr>
        <p:txBody>
          <a:bodyPr wrap="square" rtlCol="0" anchor="ctr"/>
          <a:lstStyle/>
          <a:p>
            <a:pPr indent="0" marL="0">
              <a:lnSpc>
                <a:spcPts val="1350"/>
              </a:lnSpc>
              <a:buNone/>
            </a:pPr>
            <a:r>
              <a:rPr lang="en-US" sz="1080" dirty="0">
                <a:solidFill>
                  <a:srgbClr val="AEB3CC"/>
                </a:solidFill>
                <a:latin typeface="Calibri" pitchFamily="34" charset="0"/>
                <a:ea typeface="Calibri" pitchFamily="34" charset="-122"/>
                <a:cs typeface="Calibri" pitchFamily="34" charset="-120"/>
              </a:rPr>
              <a:t>Ride demand peaks near 7 PM and average fare peaks near 5 AM — two different signals worth engineering as separate features.</a:t>
            </a:r>
            <a:endParaRPr lang="en-US" sz="1080" dirty="0"/>
          </a:p>
        </p:txBody>
      </p:sp>
      <p:sp>
        <p:nvSpPr>
          <p:cNvPr id="10" name="Shape 8"/>
          <p:cNvSpPr/>
          <p:nvPr/>
        </p:nvSpPr>
        <p:spPr>
          <a:xfrm>
            <a:off x="6263640" y="1874520"/>
            <a:ext cx="5166360" cy="1170432"/>
          </a:xfrm>
          <a:prstGeom prst="roundRect">
            <a:avLst>
              <a:gd name="adj" fmla="val 6250"/>
            </a:avLst>
          </a:prstGeom>
          <a:solidFill>
            <a:srgbClr val="1E2340"/>
          </a:solidFill>
          <a:ln/>
        </p:spPr>
      </p:sp>
      <p:sp>
        <p:nvSpPr>
          <p:cNvPr id="11" name="Shape 9"/>
          <p:cNvSpPr/>
          <p:nvPr/>
        </p:nvSpPr>
        <p:spPr>
          <a:xfrm>
            <a:off x="6464808" y="2231136"/>
            <a:ext cx="457200" cy="457200"/>
          </a:xfrm>
          <a:prstGeom prst="ellipse">
            <a:avLst/>
          </a:prstGeom>
          <a:solidFill>
            <a:srgbClr val="FFC300"/>
          </a:solidFill>
          <a:ln/>
        </p:spPr>
      </p:sp>
      <p:sp>
        <p:nvSpPr>
          <p:cNvPr id="12" name="Text 10"/>
          <p:cNvSpPr/>
          <p:nvPr/>
        </p:nvSpPr>
        <p:spPr>
          <a:xfrm>
            <a:off x="6464808" y="2231136"/>
            <a:ext cx="457200" cy="457200"/>
          </a:xfrm>
          <a:prstGeom prst="rect">
            <a:avLst/>
          </a:prstGeom>
          <a:noFill/>
          <a:ln/>
        </p:spPr>
        <p:txBody>
          <a:bodyPr wrap="square" lIns="0" tIns="0" rIns="0" bIns="0" rtlCol="0" anchor="ctr"/>
          <a:lstStyle/>
          <a:p>
            <a:pPr algn="ctr" indent="0" marL="0">
              <a:buNone/>
            </a:pPr>
            <a:r>
              <a:rPr lang="en-US" sz="1700" b="1" dirty="0">
                <a:solidFill>
                  <a:srgbClr val="14172B"/>
                </a:solidFill>
                <a:latin typeface="Cambria" pitchFamily="34" charset="0"/>
                <a:ea typeface="Cambria" pitchFamily="34" charset="-122"/>
                <a:cs typeface="Cambria" pitchFamily="34" charset="-120"/>
              </a:rPr>
              <a:t>2</a:t>
            </a:r>
            <a:endParaRPr lang="en-US" sz="1700" dirty="0"/>
          </a:p>
        </p:txBody>
      </p:sp>
      <p:sp>
        <p:nvSpPr>
          <p:cNvPr id="13" name="Text 11"/>
          <p:cNvSpPr/>
          <p:nvPr/>
        </p:nvSpPr>
        <p:spPr>
          <a:xfrm>
            <a:off x="7086600" y="2002536"/>
            <a:ext cx="4160520" cy="38404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Passenger count, car condition and traffic show no fare effect</a:t>
            </a:r>
            <a:endParaRPr lang="en-US" sz="1300" dirty="0"/>
          </a:p>
        </p:txBody>
      </p:sp>
      <p:sp>
        <p:nvSpPr>
          <p:cNvPr id="14" name="Text 12"/>
          <p:cNvSpPr/>
          <p:nvPr/>
        </p:nvSpPr>
        <p:spPr>
          <a:xfrm>
            <a:off x="7086600" y="2377440"/>
            <a:ext cx="4160520" cy="594360"/>
          </a:xfrm>
          <a:prstGeom prst="rect">
            <a:avLst/>
          </a:prstGeom>
          <a:noFill/>
          <a:ln/>
        </p:spPr>
        <p:txBody>
          <a:bodyPr wrap="square" rtlCol="0" anchor="ctr"/>
          <a:lstStyle/>
          <a:p>
            <a:pPr indent="0" marL="0">
              <a:lnSpc>
                <a:spcPts val="1350"/>
              </a:lnSpc>
              <a:buNone/>
            </a:pPr>
            <a:r>
              <a:rPr lang="en-US" sz="1080" dirty="0">
                <a:solidFill>
                  <a:srgbClr val="AEB3CC"/>
                </a:solidFill>
                <a:latin typeface="Calibri" pitchFamily="34" charset="0"/>
                <a:ea typeface="Calibri" pitchFamily="34" charset="-122"/>
                <a:cs typeface="Calibri" pitchFamily="34" charset="-120"/>
              </a:rPr>
              <a:t>All three correlate with fare at ~0.02 or below. They may still support the model indirectly, but not as standalone predictors.</a:t>
            </a:r>
            <a:endParaRPr lang="en-US" sz="1080" dirty="0"/>
          </a:p>
        </p:txBody>
      </p:sp>
      <p:sp>
        <p:nvSpPr>
          <p:cNvPr id="15" name="Shape 13"/>
          <p:cNvSpPr/>
          <p:nvPr/>
        </p:nvSpPr>
        <p:spPr>
          <a:xfrm>
            <a:off x="640080" y="3300984"/>
            <a:ext cx="5166360" cy="1170432"/>
          </a:xfrm>
          <a:prstGeom prst="roundRect">
            <a:avLst>
              <a:gd name="adj" fmla="val 6250"/>
            </a:avLst>
          </a:prstGeom>
          <a:solidFill>
            <a:srgbClr val="1E2340"/>
          </a:solidFill>
          <a:ln/>
        </p:spPr>
      </p:sp>
      <p:sp>
        <p:nvSpPr>
          <p:cNvPr id="16" name="Shape 14"/>
          <p:cNvSpPr/>
          <p:nvPr/>
        </p:nvSpPr>
        <p:spPr>
          <a:xfrm>
            <a:off x="841248" y="3657600"/>
            <a:ext cx="457200" cy="457200"/>
          </a:xfrm>
          <a:prstGeom prst="ellipse">
            <a:avLst/>
          </a:prstGeom>
          <a:solidFill>
            <a:srgbClr val="FFC300"/>
          </a:solidFill>
          <a:ln/>
        </p:spPr>
      </p:sp>
      <p:sp>
        <p:nvSpPr>
          <p:cNvPr id="17" name="Text 15"/>
          <p:cNvSpPr/>
          <p:nvPr/>
        </p:nvSpPr>
        <p:spPr>
          <a:xfrm>
            <a:off x="841248" y="3657600"/>
            <a:ext cx="457200" cy="457200"/>
          </a:xfrm>
          <a:prstGeom prst="rect">
            <a:avLst/>
          </a:prstGeom>
          <a:noFill/>
          <a:ln/>
        </p:spPr>
        <p:txBody>
          <a:bodyPr wrap="square" lIns="0" tIns="0" rIns="0" bIns="0" rtlCol="0" anchor="ctr"/>
          <a:lstStyle/>
          <a:p>
            <a:pPr algn="ctr" indent="0" marL="0">
              <a:buNone/>
            </a:pPr>
            <a:r>
              <a:rPr lang="en-US" sz="1700" b="1" dirty="0">
                <a:solidFill>
                  <a:srgbClr val="14172B"/>
                </a:solidFill>
                <a:latin typeface="Cambria" pitchFamily="34" charset="0"/>
                <a:ea typeface="Cambria" pitchFamily="34" charset="-122"/>
                <a:cs typeface="Cambria" pitchFamily="34" charset="-120"/>
              </a:rPr>
              <a:t>3</a:t>
            </a:r>
            <a:endParaRPr lang="en-US" sz="1700" dirty="0"/>
          </a:p>
        </p:txBody>
      </p:sp>
      <p:sp>
        <p:nvSpPr>
          <p:cNvPr id="18" name="Text 16"/>
          <p:cNvSpPr/>
          <p:nvPr/>
        </p:nvSpPr>
        <p:spPr>
          <a:xfrm>
            <a:off x="1463040" y="3429000"/>
            <a:ext cx="4160520" cy="38404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Distance and airport proximity look weak only because of outliers</a:t>
            </a:r>
            <a:endParaRPr lang="en-US" sz="1300" dirty="0"/>
          </a:p>
        </p:txBody>
      </p:sp>
      <p:sp>
        <p:nvSpPr>
          <p:cNvPr id="19" name="Text 17"/>
          <p:cNvSpPr/>
          <p:nvPr/>
        </p:nvSpPr>
        <p:spPr>
          <a:xfrm>
            <a:off x="1463040" y="3803904"/>
            <a:ext cx="4160520" cy="594360"/>
          </a:xfrm>
          <a:prstGeom prst="rect">
            <a:avLst/>
          </a:prstGeom>
          <a:noFill/>
          <a:ln/>
        </p:spPr>
        <p:txBody>
          <a:bodyPr wrap="square" rtlCol="0" anchor="ctr"/>
          <a:lstStyle/>
          <a:p>
            <a:pPr indent="0" marL="0">
              <a:lnSpc>
                <a:spcPts val="1350"/>
              </a:lnSpc>
              <a:buNone/>
            </a:pPr>
            <a:r>
              <a:rPr lang="en-US" sz="1080" dirty="0">
                <a:solidFill>
                  <a:srgbClr val="AEB3CC"/>
                </a:solidFill>
                <a:latin typeface="Calibri" pitchFamily="34" charset="0"/>
                <a:ea typeface="Calibri" pitchFamily="34" charset="-122"/>
                <a:cs typeface="Calibri" pitchFamily="34" charset="-120"/>
              </a:rPr>
              <a:t>Distance ranges up to 8,670 km against a 2.2 km median. Capping or removing these outliers should be the first cleaning step before Task 2's regression model.</a:t>
            </a:r>
            <a:endParaRPr lang="en-US" sz="1080" dirty="0"/>
          </a:p>
        </p:txBody>
      </p:sp>
      <p:sp>
        <p:nvSpPr>
          <p:cNvPr id="20" name="Shape 18"/>
          <p:cNvSpPr/>
          <p:nvPr/>
        </p:nvSpPr>
        <p:spPr>
          <a:xfrm>
            <a:off x="6263640" y="3300984"/>
            <a:ext cx="5166360" cy="1170432"/>
          </a:xfrm>
          <a:prstGeom prst="roundRect">
            <a:avLst>
              <a:gd name="adj" fmla="val 6250"/>
            </a:avLst>
          </a:prstGeom>
          <a:solidFill>
            <a:srgbClr val="1E2340"/>
          </a:solidFill>
          <a:ln/>
        </p:spPr>
      </p:sp>
      <p:sp>
        <p:nvSpPr>
          <p:cNvPr id="21" name="Shape 19"/>
          <p:cNvSpPr/>
          <p:nvPr/>
        </p:nvSpPr>
        <p:spPr>
          <a:xfrm>
            <a:off x="6464808" y="3657600"/>
            <a:ext cx="457200" cy="457200"/>
          </a:xfrm>
          <a:prstGeom prst="ellipse">
            <a:avLst/>
          </a:prstGeom>
          <a:solidFill>
            <a:srgbClr val="FFC300"/>
          </a:solidFill>
          <a:ln/>
        </p:spPr>
      </p:sp>
      <p:sp>
        <p:nvSpPr>
          <p:cNvPr id="22" name="Text 20"/>
          <p:cNvSpPr/>
          <p:nvPr/>
        </p:nvSpPr>
        <p:spPr>
          <a:xfrm>
            <a:off x="6464808" y="3657600"/>
            <a:ext cx="457200" cy="457200"/>
          </a:xfrm>
          <a:prstGeom prst="rect">
            <a:avLst/>
          </a:prstGeom>
          <a:noFill/>
          <a:ln/>
        </p:spPr>
        <p:txBody>
          <a:bodyPr wrap="square" lIns="0" tIns="0" rIns="0" bIns="0" rtlCol="0" anchor="ctr"/>
          <a:lstStyle/>
          <a:p>
            <a:pPr algn="ctr" indent="0" marL="0">
              <a:buNone/>
            </a:pPr>
            <a:r>
              <a:rPr lang="en-US" sz="1700" b="1" dirty="0">
                <a:solidFill>
                  <a:srgbClr val="14172B"/>
                </a:solidFill>
                <a:latin typeface="Cambria" pitchFamily="34" charset="0"/>
                <a:ea typeface="Cambria" pitchFamily="34" charset="-122"/>
                <a:cs typeface="Cambria" pitchFamily="34" charset="-120"/>
              </a:rPr>
              <a:t>4</a:t>
            </a:r>
            <a:endParaRPr lang="en-US" sz="1700" dirty="0"/>
          </a:p>
        </p:txBody>
      </p:sp>
      <p:sp>
        <p:nvSpPr>
          <p:cNvPr id="23" name="Text 21"/>
          <p:cNvSpPr/>
          <p:nvPr/>
        </p:nvSpPr>
        <p:spPr>
          <a:xfrm>
            <a:off x="7086600" y="3429000"/>
            <a:ext cx="4160520" cy="38404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 single variable explains fare on its own</a:t>
            </a:r>
            <a:endParaRPr lang="en-US" sz="1300" dirty="0"/>
          </a:p>
        </p:txBody>
      </p:sp>
      <p:sp>
        <p:nvSpPr>
          <p:cNvPr id="24" name="Text 22"/>
          <p:cNvSpPr/>
          <p:nvPr/>
        </p:nvSpPr>
        <p:spPr>
          <a:xfrm>
            <a:off x="7086600" y="3803904"/>
            <a:ext cx="4160520" cy="594360"/>
          </a:xfrm>
          <a:prstGeom prst="rect">
            <a:avLst/>
          </a:prstGeom>
          <a:noFill/>
          <a:ln/>
        </p:spPr>
        <p:txBody>
          <a:bodyPr wrap="square" rtlCol="0" anchor="ctr"/>
          <a:lstStyle/>
          <a:p>
            <a:pPr indent="0" marL="0">
              <a:lnSpc>
                <a:spcPts val="1350"/>
              </a:lnSpc>
              <a:buNone/>
            </a:pPr>
            <a:r>
              <a:rPr lang="en-US" sz="1080" dirty="0">
                <a:solidFill>
                  <a:srgbClr val="AEB3CC"/>
                </a:solidFill>
                <a:latin typeface="Calibri" pitchFamily="34" charset="0"/>
                <a:ea typeface="Calibri" pitchFamily="34" charset="-122"/>
                <a:cs typeface="Calibri" pitchFamily="34" charset="-120"/>
              </a:rPr>
              <a:t>The next step is a multivariate model — likely distance (cleaned) plus hour-of-day features — rather than relying on any one column.</a:t>
            </a:r>
            <a:endParaRPr lang="en-US" sz="1080" dirty="0"/>
          </a:p>
        </p:txBody>
      </p:sp>
      <p:sp>
        <p:nvSpPr>
          <p:cNvPr id="25" name="Text 23"/>
          <p:cNvSpPr/>
          <p:nvPr/>
        </p:nvSpPr>
        <p:spPr>
          <a:xfrm>
            <a:off x="640080" y="6446520"/>
            <a:ext cx="9144000" cy="274320"/>
          </a:xfrm>
          <a:prstGeom prst="rect">
            <a:avLst/>
          </a:prstGeom>
          <a:noFill/>
          <a:ln/>
        </p:spPr>
        <p:txBody>
          <a:bodyPr wrap="square" rtlCol="0" anchor="ctr"/>
          <a:lstStyle/>
          <a:p>
            <a:pPr indent="0" marL="0">
              <a:buNone/>
            </a:pPr>
            <a:r>
              <a:rPr lang="en-US" sz="1000" dirty="0">
                <a:solidFill>
                  <a:srgbClr val="6B7086"/>
                </a:solidFill>
                <a:latin typeface="Calibri" pitchFamily="34" charset="0"/>
                <a:ea typeface="Calibri" pitchFamily="34" charset="-122"/>
                <a:cs typeface="Calibri" pitchFamily="34" charset="-120"/>
              </a:rPr>
              <a:t>Uber Fare Analysis  •  Task 1 — Exploratory Data Analysis  •  ML Internship Program</a:t>
            </a:r>
            <a:endParaRPr lang="en-US" sz="1000" dirty="0"/>
          </a:p>
        </p:txBody>
      </p:sp>
      <p:sp>
        <p:nvSpPr>
          <p:cNvPr id="26" name="Text 24"/>
          <p:cNvSpPr/>
          <p:nvPr/>
        </p:nvSpPr>
        <p:spPr>
          <a:xfrm>
            <a:off x="11567160" y="6473952"/>
            <a:ext cx="457200" cy="274320"/>
          </a:xfrm>
          <a:prstGeom prst="rect">
            <a:avLst/>
          </a:prstGeom>
          <a:noFill/>
          <a:ln/>
        </p:spPr>
        <p:txBody>
          <a:bodyPr wrap="square" rtlCol="0" anchor="ctr"/>
          <a:lstStyle/>
          <a:p>
            <a:pPr algn="r" indent="0" marL="0">
              <a:buNone/>
            </a:pPr>
            <a:r>
              <a:rPr lang="en-US" sz="1000" dirty="0">
                <a:solidFill>
                  <a:srgbClr val="6B7086"/>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2026-09-22T12:51:09Z</dcterms:created>
  <dcterms:modified xsi:type="dcterms:W3CDTF">2026-09-22T12:51:09Z</dcterms:modified>
</cp:coreProperties>
</file>