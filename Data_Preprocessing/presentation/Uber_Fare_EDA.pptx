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34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E23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INTERNSHIP PROGRAM  ·  TASK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for Regression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Uber Fare dataset into a clean, encoded, leak-free pipeline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05840" cy="0"/>
          </a:xfrm>
          <a:prstGeom prst="line">
            <a:avLst/>
          </a:prstGeom>
          <a:noFill/>
          <a:ln w="38100">
            <a:solidFill>
              <a:srgbClr val="FF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to Task 1's EDA — every preprocessing decision below is justified by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showed, not a fixed recipe applied by habit.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•  Pipeline  •  Baseline &amp; Tuned Regression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steps, raw CSV to a tuned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cleaning happens first; anything that learns a statistic (caps, encoders, scaler) is fit on the training split only.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3000" y="1965960"/>
            <a:ext cx="0" cy="4389120"/>
          </a:xfrm>
          <a:prstGeom prst="line">
            <a:avLst/>
          </a:prstGeom>
          <a:noFill/>
          <a:ln w="25400">
            <a:solidFill>
              <a:srgbClr val="DA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10512"/>
            <a:ext cx="310896" cy="310896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16" dirty="0"/>
          </a:p>
        </p:txBody>
      </p:sp>
      <p:sp>
        <p:nvSpPr>
          <p:cNvPr id="8" name="Text 6"/>
          <p:cNvSpPr/>
          <p:nvPr/>
        </p:nvSpPr>
        <p:spPr>
          <a:xfrm>
            <a:off x="1508760" y="17282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2821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58,365 trip rows, 26 columns straight from the CSV.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2359152"/>
            <a:ext cx="310896" cy="310896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16" dirty="0"/>
          </a:p>
        </p:txBody>
      </p:sp>
      <p:sp>
        <p:nvSpPr>
          <p:cNvPr id="12" name="Text 10"/>
          <p:cNvSpPr/>
          <p:nvPr/>
        </p:nvSpPr>
        <p:spPr>
          <a:xfrm>
            <a:off x="1508760" y="227685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cleaning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27685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columns, handle missing rows, remove duplicates, drop invalid (zero/negative) values.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" y="2907792"/>
            <a:ext cx="310896" cy="310896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1508760" y="282549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8254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hour (sin/cos), is_weekend flag, drop redundant raw columns.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" y="3456432"/>
            <a:ext cx="310896" cy="310896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16" dirty="0"/>
          </a:p>
        </p:txBody>
      </p:sp>
      <p:sp>
        <p:nvSpPr>
          <p:cNvPr id="20" name="Text 18"/>
          <p:cNvSpPr/>
          <p:nvPr/>
        </p:nvSpPr>
        <p:spPr>
          <a:xfrm>
            <a:off x="1508760" y="337413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37413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— before any statistic is learned, to block leakage.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" y="4005072"/>
            <a:ext cx="310896" cy="310896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16" dirty="0"/>
          </a:p>
        </p:txBody>
      </p:sp>
      <p:sp>
        <p:nvSpPr>
          <p:cNvPr id="24" name="Text 22"/>
          <p:cNvSpPr/>
          <p:nvPr/>
        </p:nvSpPr>
        <p:spPr>
          <a:xfrm>
            <a:off x="1508760" y="392277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pipeline (train-fit only)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92277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 distance outliers → encode categoricals → RobustScaler.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" y="4553712"/>
            <a:ext cx="310896" cy="310896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16" dirty="0"/>
          </a:p>
        </p:txBody>
      </p:sp>
      <p:sp>
        <p:nvSpPr>
          <p:cNvPr id="28" name="Text 26"/>
          <p:cNvSpPr/>
          <p:nvPr/>
        </p:nvSpPr>
        <p:spPr>
          <a:xfrm>
            <a:off x="1508760" y="44714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transform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47141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log1p(fare) during training, expm1() automatically applied to predictions.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" y="5102352"/>
            <a:ext cx="310896" cy="310896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5102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16" dirty="0"/>
          </a:p>
        </p:txBody>
      </p:sp>
      <p:sp>
        <p:nvSpPr>
          <p:cNvPr id="32" name="Text 30"/>
          <p:cNvSpPr/>
          <p:nvPr/>
        </p:nvSpPr>
        <p:spPr>
          <a:xfrm>
            <a:off x="1508760" y="502005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502005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Regression, scored with 5-fold cross-validation.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" y="5650992"/>
            <a:ext cx="310896" cy="310896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5650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16" dirty="0"/>
          </a:p>
        </p:txBody>
      </p:sp>
      <p:sp>
        <p:nvSpPr>
          <p:cNvPr id="36" name="Text 34"/>
          <p:cNvSpPr/>
          <p:nvPr/>
        </p:nvSpPr>
        <p:spPr>
          <a:xfrm>
            <a:off x="1508760" y="556869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55686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hyperparameters tuned via RandomizedSearchCV.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4672" y="6199632"/>
            <a:ext cx="310896" cy="310896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" y="6199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16" dirty="0"/>
          </a:p>
        </p:txBody>
      </p:sp>
      <p:sp>
        <p:nvSpPr>
          <p:cNvPr id="40" name="Text 38"/>
          <p:cNvSpPr/>
          <p:nvPr/>
        </p:nvSpPr>
        <p:spPr>
          <a:xfrm>
            <a:off x="1508760" y="611733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611733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 once, on the untouched test set, in real dollars.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MISSING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first, then decide — never the other way around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task's own guidance: the missingness pattern should drive the method, not habit.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02152" cy="2834640"/>
          </a:xfrm>
          <a:prstGeom prst="roundRect">
            <a:avLst>
              <a:gd name="adj" fmla="val 2581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04872"/>
            <a:ext cx="2953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ISNULL().MEAN()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15768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953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in every modeling-relevant column — consistent with Task 1, where overall row loss from combined issues was ~2.9%.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2148840"/>
            <a:ext cx="3502152" cy="2834640"/>
          </a:xfrm>
          <a:prstGeom prst="roundRect">
            <a:avLst>
              <a:gd name="adj" fmla="val 2581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404872"/>
            <a:ext cx="2953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3712" y="2715768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MCAR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53712" y="3520440"/>
            <a:ext cx="2953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 a trip's fare is more likely missing because of its own weather or traffic value — Missing Completely At Random.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2148840"/>
            <a:ext cx="3502152" cy="2834640"/>
          </a:xfrm>
          <a:prstGeom prst="roundRect">
            <a:avLst>
              <a:gd name="adj" fmla="val 2581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2404872"/>
            <a:ext cx="2953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84464" y="2715768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dropna()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84464" y="3520440"/>
            <a:ext cx="2953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scale, imputation adds complexity without meaningfully improving the dataset. No column crosses the 50–60% threshold that would justify dropping it entirely.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7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4223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columns dropped before the missingness check even runs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7881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ID, User Name and Driver Name are explicitly called out in the data dictionary as “not useful for modeling” — removed first, regardless of how complete they are.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DUPLICATES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duplicate, two different checks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dictionary says key is “unique trip ID — use only for deduplication,” so it drives the second check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4172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duplicates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values across every single column.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4800600" cy="640080"/>
          </a:xfrm>
          <a:prstGeom prst="roundRect">
            <a:avLst>
              <a:gd name="adj" fmla="val 8571"/>
            </a:avLst>
          </a:prstGeom>
          <a:solidFill>
            <a:srgbClr val="1E234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233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→  drop outright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row-for-row copy carries no new information — safe to remove without judgment calls.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41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2377440"/>
            <a:ext cx="457200" cy="45720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017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Key-based duplicates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34747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trip key appearing more than once.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4023360"/>
            <a:ext cx="4800600" cy="640080"/>
          </a:xfrm>
          <a:prstGeom prst="roundRect">
            <a:avLst>
              <a:gd name="adj" fmla="val 8571"/>
            </a:avLst>
          </a:prstGeom>
          <a:solidFill>
            <a:srgbClr val="1E234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0233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df.duplicated(subset=['key'])  →  keep first, drop rest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4800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repeated key is the same trip exported twice (a scraping/export artifact), not two different rides.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THE KEY DISTINCTION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error and a real outlier need opposite treatment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found distance ranging up to 8,670 km against a 2.2 km median. The two numbers below show why that single finding gets handled two different ways.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1508760" y="24505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fare_amount ≤ 0  or  distance ≤ 0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ERROR — always dropped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$0 fare or a 0 km trip is impossible regardless of context — the same way a -999°C sensor reading signals a malfunction, not a rare cold day. There is no version of a real trip this describes, so these rows are removed before the split, with no statistic learned and nothing to leak.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02920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1417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0292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df[(df.fare_amount &gt; 0) &amp; (df.distance &gt; 0)]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141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46888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86600" y="24505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up to 8,670 km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0" y="3154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ERROR — but capped, not deleted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NYC's longest plausible in-city trip is well under 100 km — this is almost certainly corrupted GPS, not a rare valid long ride. But unlike a $0 fare, the row still holds valid fare, weather and time data, so instead of dropping it we winsorize (cap) the value at the 1st/99th percentile — learned from the training set only, to avoid leakage.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502920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1E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50292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Winsorizer(lower_q=0.01, upper_q=0.99).fit(X_train)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deterministic transforms, each traced to an EDA finding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learn a statistic from the data, so applying them before the split introduces no leakage.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28900"/>
            <a:ext cx="457200" cy="457200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hour  →  hour_sin, hour_cos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1, Q3 &amp; Q6: demand peaked near 7 PM, average fare peaked near 5 AM — hour 23 and hour 0 are one hour apart, not twenty-three. A raw integer (or 24 one-hot columns) hides that wrap-around; sin/cos preserves it in two columns.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247388"/>
            <a:ext cx="457200" cy="457200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47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931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  (from weekday)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42976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1's extra analysis found weekend vs. weekday fare barely differed ($11.36 vs $11.31) — but that was one univariate check. Kept as a feature so the model can weigh it itself, possibly in combination with other variables.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38581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865876"/>
            <a:ext cx="457200" cy="457200"/>
          </a:xfrm>
          <a:prstGeom prst="ellipse">
            <a:avLst/>
          </a:prstGeom>
          <a:solidFill>
            <a:srgbClr val="1417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8658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550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pickup_datetime, raw lat/lon (×4)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591616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pickup_datetime is already decomposed into hour/day/month/weekday/year. distance, bearing and the four airport/landmark distances already encode what four raw coordinates would — keeping both would add severe multicollinearity for linear models, for no new information.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ENCODING CATEGORICAL VARIABLES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 type, different structure, different encoding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need numeric input — the right encoding depends on whether the category has a real order.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338328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(Bad &lt; Good &lt; Very Good &lt; Excellent)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quality order exists — ordinal keeps it in one column instead of inventing false distance between categories with one-hot.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 categories)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cardinality, no natural order between sunny/cloudy/rainy/windy/stormy — the textbook fit, with no risk of exploding dimensionality.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 categories)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logic as Weather — Flow / Dense / Congested have no inherent ranking a model should assume.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34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7150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tip applied: for tree-based models, plain label encoding of nominal features is often enough — one-hot here is sized for the linear baseline, not over-engineered for the tuned Random Forest.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SCALING &amp; TARGET TRANSFORMATION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skew problems, two different fixes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about the spread of the input features; the other is about the shape of the target itself.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048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RobustScaler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distance, jfk/ewr/lga/sol/nyc_dist, bearing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winsorizing, these columns keep a heavier tail than a normal distribution. RobustScaler centers on the median and scales by IQR instead of mean/std, so whatever outlier residue remains doesn't distort the scaling itself the way StandardScaler would.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 / hour_cos / is_weekend are left unscaled — already bounded in [-1,1] or {0,1}; scaling a bounded or binary column just adds noise.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214884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1417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4048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TRANSFORMATION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log1p( fare_amount 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32461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TransformedTargetRegressor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7033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flagged this directly: mean $11.35 vs. median $8.50, with a tail up to $200. Training on a right-skewed target lets a handful of expensive trips dominate squared-error loss. log1p compresses that tail before training.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5074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D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expm1() is applied automatically to every prediction — every metric reported later is in real dollars, never left on the log scale.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WHY THE SPLIT COMES BEFORE ANYTHING STATISTICAL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 governs every step from here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step learns a number from the data — a cap, a category list, a mean — that number must come from the training rows only.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3886200"/>
          </a:xfrm>
          <a:prstGeom prst="roundRect">
            <a:avLst>
              <a:gd name="adj" fmla="val 1882"/>
            </a:avLst>
          </a:prstGeom>
          <a:solidFill>
            <a:srgbClr val="1417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on train.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train and test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that same fit.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 one of these: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4489704"/>
            <a:ext cx="82296" cy="82296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79976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Winsorizer's 1st/99th percentile caps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828032"/>
            <a:ext cx="82296" cy="82296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1830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OneHotEncoder's known category list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5166360"/>
            <a:ext cx="82296" cy="82296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5663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OrdinalEncoder's category mapping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5504688"/>
            <a:ext cx="82296" cy="82296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39496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RobustScaler's median &amp; IQR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5843016"/>
            <a:ext cx="82296" cy="82296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73328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SimpleImputer's median/mode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2148840"/>
            <a:ext cx="5760720" cy="3886200"/>
          </a:xfrm>
          <a:prstGeom prst="roundRect">
            <a:avLst>
              <a:gd name="adj" fmla="val 1882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423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ENFORCES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7889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train_test_split(test_size=0.2)   #  first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Pipeline([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('preprocessor', ColumnTransformer([...])),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('model', TransformedTargetRegressor(...)),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cross_validate(pipeline, X_train, y_train, cv=5)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48006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whole ColumnTransformer sits inside the Pipeline, each of the 5 cross-validation folds refits the winsorizer, encoders and scaler independently on its own training portion — exactly as this task's leakage warning requires.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BASELINE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Regression, scored with 5-fold cross-validation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simple, deliberately sensitive choice — before moving to a model family that would tolerate preprocessing mistakes quietly.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4172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4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linear model as the baseline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are sensitive to scale and encoding choice — exactly the property that makes Ridge a useful check. If Section 5–7's preprocessing has a mistake, a linear baseline will expose it immediately; a tree-based model might quietly absorb the same mistake and hide 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 (alpha) also guards against the multicollinearity that One-Hot and the airport-distance columns can introduce together.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68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KFold(n_splits=5, shuffle=True)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choice for i.i.d. tabular regression data — the task's own guidance table rules out TimeSeriesSplit or GroupKFold here, since trip rows aren't a continuous series and don't share a grouping key.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tracked: RMSE, MAE, R² — TransformedTargetRegressor inverts every prediction back to real dollars first, so all three are reported in original units, never on the log scale.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HYPERPARAMETER-TUNED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Forest, tuned with RandomizedSearchCV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leak-free pipeline, a model family that can capture the non-linear patterns Task 1 found (like the hour-of-day wrap-around).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4937760" cy="27432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100, 200, 300, 400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None, 6, 10, 16,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2, 5, 10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sqrt, log2, 0.5,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random combinations  ×  5-fold CV  =  125 fits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2148840"/>
            <a:ext cx="5760720" cy="3291840"/>
          </a:xfrm>
          <a:prstGeom prst="roundRect">
            <a:avLst>
              <a:gd name="adj" fmla="val 2222"/>
            </a:avLst>
          </a:prstGeom>
          <a:solidFill>
            <a:srgbClr val="14172B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24048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spc="5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RandomizedSearchCV, NOT GridSearchCV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0" y="29260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5 × 3 × 4 = 240 combinations is a large grid — exhaustively training and scoring all of them across 5 folds (1,200 fits) is expensive for little extra benefit.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38862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 fixed number of random combinations — per the task's own guidance table — gets most of the benefit of a full grid at a fraction of the compute, and is the right tool whenever the space is “too slow to try every combination.”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neg_root_mean_squared_error  ·  random_state=42  ·  same cv object used for reporting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EVALUATION &amp; EMBEDDED FEATURE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set is touched exactly once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 / y_test are held out from fit(), cross_validate(), and RandomizedSearchCV until this single, final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F5F6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048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TEST EVALUATION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baseline_pipeline.predict(X_test)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best_model.predict(X_test)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 and R² are computed on both models, in original dollars — the TransformedTargetRegressor has already applied expm1() internally, so nothing is left on the log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tuning against the test set — even by accident, even once — is, per the task's own senior tip, the most common way beginners silently overfit their reported score.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1488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1417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4048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FEATURE SELECTION CHECK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1's correlations suggested passenger_count, Car Condition and Traffic Condition carry little linear signal with fare — but a single Pearson correlation can miss a feature's value in combination with others.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hand-dropping them from the EDA finding alone, the tuned Random Forest's own feature_importances_ is read as a model-driven, embedded confirmation (or correction) of that hypothesis — the task's recommended approach over filtering by correlation threshold alone.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53035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best_model.named_steps['model'].regressor_.feature_importances_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1E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decision, traced back to its reason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1E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3677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23160" y="163677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77640" y="163677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 missing, consistent with MCAR (Task 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1E234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7685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23160" y="227685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exact + key-based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227685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documented as dedup-only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1E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169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fare/distance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23160" y="29169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(data error)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77640" y="291693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Zero/negative values are impossible, not rare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1E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5701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outliers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23160" y="355701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Winsorize, fit on train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355701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8,670 km vs. 2.2 km median — physically impossible, but row still informative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1E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63677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Condition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163677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163677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quality order, even if fare barely moves with 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224028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1E2340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27685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/ Traffic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227685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0" y="227685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cardinality, no natural order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288036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1E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9169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0" y="29169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 cyclical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0" y="291693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wrap-around pattern found in Task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352044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1E2340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355701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fare_amount (target)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46720" y="355701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via TransformedTargetRegressor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0" y="355701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AE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Right-skewed: mean $11.35 &gt; median $8.50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55778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340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577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86000" y="557784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tuned Random Forest against gradient boosting (XGBoost/LightGBM) on the same pipeline and CV scheme, and wrap feature selection (SelectFromModel) inside the CV loop itself.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2026-10-01T19:43:20Z</dcterms:created>
  <dcterms:modified xsi:type="dcterms:W3CDTF">2026-10-01T19:43:20Z</dcterms:modified>
</cp:coreProperties>
</file>